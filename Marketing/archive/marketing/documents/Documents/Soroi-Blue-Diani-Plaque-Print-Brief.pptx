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53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00200"/>
            <a:ext cx="9144000" cy="5486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46120"/>
            <a:ext cx="9144000" cy="5486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37760" y="228600"/>
            <a:ext cx="38404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500" dirty="0">
                <a:solidFill>
                  <a:srgbClr val="C4A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BRIEF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2066544"/>
            <a:ext cx="4297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Arrival Plaque Card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287121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93BF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Soroi Blue Diani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A2D58"/>
          </a:solidFill>
          <a:ln w="12700">
            <a:solidFill>
              <a:srgbClr val="0A2D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reservations@soroi.com  ·  +254 754 351 908  ·  www.soroi.com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ARTWORK REFERENCE  ·  KEY SPECIFICATIONS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 — Arrival Plaque Card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94360"/>
            <a:ext cx="356616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663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artwork file: WELCOME_PLAQUE_CARD-01.png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114800" y="6400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Specifications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0" y="978408"/>
            <a:ext cx="4754880" cy="20117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0" y="1042416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21654" y="1042416"/>
            <a:ext cx="2948026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0" y="1042416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5921654" y="1042416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arrival plaque card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4114800" y="1298448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21654" y="1298448"/>
            <a:ext cx="294802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1298448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5921654" y="1298448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 — confirm before order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4114800" y="1554480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21654" y="1554480"/>
            <a:ext cx="2948026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0" y="1554480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5921654" y="1554480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Alucoboard (aluminium composite) — 3mm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4114800" y="1810512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21654" y="1810512"/>
            <a:ext cx="294802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0" y="1810512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width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5921654" y="1810512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cm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4114800" y="2066544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21654" y="2066544"/>
            <a:ext cx="2948026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0" y="2066544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height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5921654" y="2066544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cm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4114800" y="2322576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21654" y="2322576"/>
            <a:ext cx="294802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0" y="2322576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height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5921654" y="2322576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cm (extends below board)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4114800" y="2578608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921654" y="2578608"/>
            <a:ext cx="2948026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14800" y="2578608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width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5921654" y="2578608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7 cm — centred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4114800" y="2834640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921654" y="2834640"/>
            <a:ext cx="294802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14800" y="2834640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radius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5921654" y="2834640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artwork — generous rounded corners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4114800" y="3090672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21654" y="3090672"/>
            <a:ext cx="2948026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114800" y="3090672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method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5921654" y="3090672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flatbed — direct to alucoboard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4114800" y="3346704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921654" y="3346704"/>
            <a:ext cx="294802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114800" y="3346704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780" dirty="0"/>
          </a:p>
        </p:txBody>
      </p:sp>
      <p:sp>
        <p:nvSpPr>
          <p:cNvPr id="48" name="Text 45"/>
          <p:cNvSpPr/>
          <p:nvPr/>
        </p:nvSpPr>
        <p:spPr>
          <a:xfrm>
            <a:off x="5921654" y="3346704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 laminate — full board face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4114800" y="3602736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921654" y="3602736"/>
            <a:ext cx="2948026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114800" y="3602736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panel</a:t>
            </a:r>
            <a:endParaRPr lang="en-US" sz="780" dirty="0"/>
          </a:p>
        </p:txBody>
      </p:sp>
      <p:sp>
        <p:nvSpPr>
          <p:cNvPr id="52" name="Text 49"/>
          <p:cNvSpPr/>
          <p:nvPr/>
        </p:nvSpPr>
        <p:spPr>
          <a:xfrm>
            <a:off x="5921654" y="3602736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Dry-erase white vinyl — self-adhesive</a:t>
            </a:r>
            <a:endParaRPr lang="en-US" sz="780" dirty="0"/>
          </a:p>
        </p:txBody>
      </p:sp>
      <p:sp>
        <p:nvSpPr>
          <p:cNvPr id="53" name="Shape 50"/>
          <p:cNvSpPr/>
          <p:nvPr/>
        </p:nvSpPr>
        <p:spPr>
          <a:xfrm>
            <a:off x="4114800" y="3858768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921654" y="3858768"/>
            <a:ext cx="294802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114800" y="3858768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panel size</a:t>
            </a:r>
            <a:endParaRPr lang="en-US" sz="780" dirty="0"/>
          </a:p>
        </p:txBody>
      </p:sp>
      <p:sp>
        <p:nvSpPr>
          <p:cNvPr id="56" name="Text 53"/>
          <p:cNvSpPr/>
          <p:nvPr/>
        </p:nvSpPr>
        <p:spPr>
          <a:xfrm>
            <a:off x="5921654" y="3858768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cm (W)  ×  10 cm (H)</a:t>
            </a:r>
            <a:endParaRPr lang="en-US" sz="780" dirty="0"/>
          </a:p>
        </p:txBody>
      </p:sp>
      <p:sp>
        <p:nvSpPr>
          <p:cNvPr id="57" name="Shape 54"/>
          <p:cNvSpPr/>
          <p:nvPr/>
        </p:nvSpPr>
        <p:spPr>
          <a:xfrm>
            <a:off x="4114800" y="4114800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921654" y="4114800"/>
            <a:ext cx="2948026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114800" y="4114800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position</a:t>
            </a:r>
            <a:endParaRPr lang="en-US" sz="780" dirty="0"/>
          </a:p>
        </p:txBody>
      </p:sp>
      <p:sp>
        <p:nvSpPr>
          <p:cNvPr id="60" name="Text 57"/>
          <p:cNvSpPr/>
          <p:nvPr/>
        </p:nvSpPr>
        <p:spPr>
          <a:xfrm>
            <a:off x="5921654" y="4114800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in lower zone — see artwork</a:t>
            </a:r>
            <a:endParaRPr lang="en-US" sz="780" dirty="0"/>
          </a:p>
        </p:txBody>
      </p:sp>
      <p:sp>
        <p:nvSpPr>
          <p:cNvPr id="61" name="Shape 58"/>
          <p:cNvSpPr/>
          <p:nvPr/>
        </p:nvSpPr>
        <p:spPr>
          <a:xfrm>
            <a:off x="4114800" y="4370832"/>
            <a:ext cx="1806854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921654" y="4370832"/>
            <a:ext cx="294802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114800" y="4370832"/>
            <a:ext cx="1806854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type</a:t>
            </a:r>
            <a:endParaRPr lang="en-US" sz="780" dirty="0"/>
          </a:p>
        </p:txBody>
      </p:sp>
      <p:sp>
        <p:nvSpPr>
          <p:cNvPr id="64" name="Text 61"/>
          <p:cNvSpPr/>
          <p:nvPr/>
        </p:nvSpPr>
        <p:spPr>
          <a:xfrm>
            <a:off x="5921654" y="4370832"/>
            <a:ext cx="2948026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Posca PC-5M / whiteboard markers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PRINT BRIEF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 — Arrival Plaque Card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4023360" cy="310896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DETAILS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923544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8917" y="923544"/>
            <a:ext cx="2494483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23544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848917" y="923544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Collection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20040" y="1179576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8917" y="1179576"/>
            <a:ext cx="2494483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179576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848917" y="1179576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20040" y="1435608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48917" y="1435608"/>
            <a:ext cx="2494483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435608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848917" y="1435608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reservations@soroi.com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0040" y="1691640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8917" y="1691640"/>
            <a:ext cx="2494483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691640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848917" y="1691640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+254 754 351 908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20040" y="1947672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48917" y="1947672"/>
            <a:ext cx="2494483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47672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ref.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848917" y="1947672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DIANI-PLAQUE-001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20040" y="2368296"/>
            <a:ext cx="4023360" cy="310896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682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&amp; MATERIAL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697480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48917" y="2697480"/>
            <a:ext cx="2494483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697480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848917" y="2697480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Alucoboard — aluminium composite panel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20040" y="2953512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48917" y="2953512"/>
            <a:ext cx="2494483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953512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848917" y="2953512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3mm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20040" y="3209544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48917" y="3209544"/>
            <a:ext cx="2494483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209544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target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1848917" y="3209544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250–320 g per unit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20040" y="3465576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48917" y="3465576"/>
            <a:ext cx="2494483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465576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1848917" y="3465576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polyester-coated — standard print grade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320040" y="3721608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48917" y="3721608"/>
            <a:ext cx="2494483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721608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1848917" y="3721608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rigid, weatherproof, printable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320040" y="3977640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48917" y="3977640"/>
            <a:ext cx="2494483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977640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1848917" y="3977640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Wood, acrylic, foam board, or PVC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320040" y="4398264"/>
            <a:ext cx="4023360" cy="310896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3982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CUTTING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4727448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48917" y="4727448"/>
            <a:ext cx="2494483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727448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method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1848917" y="4727448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router — clean burr-free edges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320040" y="4983480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48917" y="4983480"/>
            <a:ext cx="2494483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983480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shape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1848917" y="4983480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rectangle — match artwork exactly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320040" y="5239512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848917" y="5239512"/>
            <a:ext cx="2494483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5239512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W × H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1848917" y="5239512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cm × 24 cm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320040" y="5495544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48917" y="5495544"/>
            <a:ext cx="2494483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5495544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radius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1848917" y="5495544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3–4 cm — match artwork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320040" y="5751576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48917" y="5751576"/>
            <a:ext cx="2494483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5751576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W × H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1848917" y="5751576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7 cm × 10 cm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320040" y="6007608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848917" y="6007608"/>
            <a:ext cx="2494483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6007608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position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1848917" y="6007608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on bottom edge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320040" y="6263640"/>
            <a:ext cx="1528877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48917" y="6263640"/>
            <a:ext cx="2494483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0040" y="6263640"/>
            <a:ext cx="1528877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finish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1848917" y="6263640"/>
            <a:ext cx="2494483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edges smooth — sand or de-burr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4572000" y="594360"/>
            <a:ext cx="4251960" cy="310896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72000" y="5943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SPECIFICATION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572000" y="923544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87745" y="923544"/>
            <a:ext cx="2636215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0" y="923544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method</a:t>
            </a:r>
            <a:endParaRPr lang="en-US" sz="780" dirty="0"/>
          </a:p>
        </p:txBody>
      </p:sp>
      <p:sp>
        <p:nvSpPr>
          <p:cNvPr id="88" name="Text 86"/>
          <p:cNvSpPr/>
          <p:nvPr/>
        </p:nvSpPr>
        <p:spPr>
          <a:xfrm>
            <a:off x="6187745" y="923544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flatbed — direct to alucoboard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4572000" y="1179576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87745" y="1179576"/>
            <a:ext cx="26362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572000" y="1179576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mode</a:t>
            </a:r>
            <a:endParaRPr lang="en-US" sz="780" dirty="0"/>
          </a:p>
        </p:txBody>
      </p:sp>
      <p:sp>
        <p:nvSpPr>
          <p:cNvPr id="92" name="Text 90"/>
          <p:cNvSpPr/>
          <p:nvPr/>
        </p:nvSpPr>
        <p:spPr>
          <a:xfrm>
            <a:off x="6187745" y="1179576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+ spot varnish if available</a:t>
            </a: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4572000" y="1435608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87745" y="1435608"/>
            <a:ext cx="2636215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72000" y="1435608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780" dirty="0"/>
          </a:p>
        </p:txBody>
      </p:sp>
      <p:sp>
        <p:nvSpPr>
          <p:cNvPr id="96" name="Text 94"/>
          <p:cNvSpPr/>
          <p:nvPr/>
        </p:nvSpPr>
        <p:spPr>
          <a:xfrm>
            <a:off x="6187745" y="1435608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150 dpi at final output size</a:t>
            </a:r>
            <a:endParaRPr lang="en-US" sz="780" dirty="0"/>
          </a:p>
        </p:txBody>
      </p:sp>
      <p:sp>
        <p:nvSpPr>
          <p:cNvPr id="97" name="Shape 95"/>
          <p:cNvSpPr/>
          <p:nvPr/>
        </p:nvSpPr>
        <p:spPr>
          <a:xfrm>
            <a:off x="4572000" y="1691640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87745" y="1691640"/>
            <a:ext cx="26362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000" y="1691640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file</a:t>
            </a:r>
            <a:endParaRPr lang="en-US" sz="780" dirty="0"/>
          </a:p>
        </p:txBody>
      </p:sp>
      <p:sp>
        <p:nvSpPr>
          <p:cNvPr id="100" name="Text 98"/>
          <p:cNvSpPr/>
          <p:nvPr/>
        </p:nvSpPr>
        <p:spPr>
          <a:xfrm>
            <a:off x="6187745" y="1691640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WELCOME_PLAQUE_CARD-01.png (supplied)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4572000" y="1947672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87745" y="1947672"/>
            <a:ext cx="2636215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572000" y="1947672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</a:t>
            </a:r>
            <a:endParaRPr lang="en-US" sz="780" dirty="0"/>
          </a:p>
        </p:txBody>
      </p:sp>
      <p:sp>
        <p:nvSpPr>
          <p:cNvPr id="104" name="Text 102"/>
          <p:cNvSpPr/>
          <p:nvPr/>
        </p:nvSpPr>
        <p:spPr>
          <a:xfrm>
            <a:off x="6187745" y="1947672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3mm on all edges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4572000" y="2203704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187745" y="2203704"/>
            <a:ext cx="26362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72000" y="2203704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zone</a:t>
            </a:r>
            <a:endParaRPr lang="en-US" sz="780" dirty="0"/>
          </a:p>
        </p:txBody>
      </p:sp>
      <p:sp>
        <p:nvSpPr>
          <p:cNvPr id="108" name="Text 106"/>
          <p:cNvSpPr/>
          <p:nvPr/>
        </p:nvSpPr>
        <p:spPr>
          <a:xfrm>
            <a:off x="6187745" y="2203704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5mm inside cut line — keep text clear</a:t>
            </a:r>
            <a:endParaRPr lang="en-US" sz="780" dirty="0"/>
          </a:p>
        </p:txBody>
      </p:sp>
      <p:sp>
        <p:nvSpPr>
          <p:cNvPr id="109" name="Shape 107"/>
          <p:cNvSpPr/>
          <p:nvPr/>
        </p:nvSpPr>
        <p:spPr>
          <a:xfrm>
            <a:off x="4572000" y="2459736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187745" y="2459736"/>
            <a:ext cx="2636215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572000" y="2459736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780" dirty="0"/>
          </a:p>
        </p:txBody>
      </p:sp>
      <p:sp>
        <p:nvSpPr>
          <p:cNvPr id="112" name="Text 110"/>
          <p:cNvSpPr/>
          <p:nvPr/>
        </p:nvSpPr>
        <p:spPr>
          <a:xfrm>
            <a:off x="6187745" y="2459736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 laminate over entire board face</a:t>
            </a:r>
            <a:endParaRPr lang="en-US" sz="780" dirty="0"/>
          </a:p>
        </p:txBody>
      </p:sp>
      <p:sp>
        <p:nvSpPr>
          <p:cNvPr id="113" name="Shape 111"/>
          <p:cNvSpPr/>
          <p:nvPr/>
        </p:nvSpPr>
        <p:spPr>
          <a:xfrm>
            <a:off x="4572000" y="2715768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187745" y="2715768"/>
            <a:ext cx="26362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572000" y="2715768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face</a:t>
            </a:r>
            <a:endParaRPr lang="en-US" sz="780" dirty="0"/>
          </a:p>
        </p:txBody>
      </p:sp>
      <p:sp>
        <p:nvSpPr>
          <p:cNvPr id="116" name="Text 114"/>
          <p:cNvSpPr/>
          <p:nvPr/>
        </p:nvSpPr>
        <p:spPr>
          <a:xfrm>
            <a:off x="6187745" y="2715768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alucoboard — no print required</a:t>
            </a:r>
            <a:endParaRPr lang="en-US" sz="780" dirty="0"/>
          </a:p>
        </p:txBody>
      </p:sp>
      <p:sp>
        <p:nvSpPr>
          <p:cNvPr id="117" name="Shape 115"/>
          <p:cNvSpPr/>
          <p:nvPr/>
        </p:nvSpPr>
        <p:spPr>
          <a:xfrm>
            <a:off x="4572000" y="3136392"/>
            <a:ext cx="4251960" cy="310896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572000" y="3136392"/>
            <a:ext cx="425196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DRY-ERASE VINYL PANEL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4572000" y="3465576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187745" y="3465576"/>
            <a:ext cx="2636215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0" y="3465576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780" dirty="0"/>
          </a:p>
        </p:txBody>
      </p:sp>
      <p:sp>
        <p:nvSpPr>
          <p:cNvPr id="122" name="Text 120"/>
          <p:cNvSpPr/>
          <p:nvPr/>
        </p:nvSpPr>
        <p:spPr>
          <a:xfrm>
            <a:off x="6187745" y="3465576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Dry-erase white vinyl — self-adhesive</a:t>
            </a:r>
            <a:endParaRPr lang="en-US" sz="780" dirty="0"/>
          </a:p>
        </p:txBody>
      </p:sp>
      <p:sp>
        <p:nvSpPr>
          <p:cNvPr id="123" name="Shape 121"/>
          <p:cNvSpPr/>
          <p:nvPr/>
        </p:nvSpPr>
        <p:spPr>
          <a:xfrm>
            <a:off x="4572000" y="3721608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187745" y="3721608"/>
            <a:ext cx="26362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572000" y="3721608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 × H</a:t>
            </a:r>
            <a:endParaRPr lang="en-US" sz="780" dirty="0"/>
          </a:p>
        </p:txBody>
      </p:sp>
      <p:sp>
        <p:nvSpPr>
          <p:cNvPr id="126" name="Text 124"/>
          <p:cNvSpPr/>
          <p:nvPr/>
        </p:nvSpPr>
        <p:spPr>
          <a:xfrm>
            <a:off x="6187745" y="3721608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cm × 10 cm</a:t>
            </a:r>
            <a:endParaRPr lang="en-US" sz="780" dirty="0"/>
          </a:p>
        </p:txBody>
      </p:sp>
      <p:sp>
        <p:nvSpPr>
          <p:cNvPr id="127" name="Shape 125"/>
          <p:cNvSpPr/>
          <p:nvPr/>
        </p:nvSpPr>
        <p:spPr>
          <a:xfrm>
            <a:off x="4572000" y="3977640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87745" y="3977640"/>
            <a:ext cx="2636215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572000" y="3977640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780" dirty="0"/>
          </a:p>
        </p:txBody>
      </p:sp>
      <p:sp>
        <p:nvSpPr>
          <p:cNvPr id="130" name="Text 128"/>
          <p:cNvSpPr/>
          <p:nvPr/>
        </p:nvSpPr>
        <p:spPr>
          <a:xfrm>
            <a:off x="6187745" y="3977640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horizontally in lower board zone</a:t>
            </a:r>
            <a:endParaRPr lang="en-US" sz="780" dirty="0"/>
          </a:p>
        </p:txBody>
      </p:sp>
      <p:sp>
        <p:nvSpPr>
          <p:cNvPr id="131" name="Shape 129"/>
          <p:cNvSpPr/>
          <p:nvPr/>
        </p:nvSpPr>
        <p:spPr>
          <a:xfrm>
            <a:off x="4572000" y="4233672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187745" y="4233672"/>
            <a:ext cx="26362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572000" y="4233672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style</a:t>
            </a:r>
            <a:endParaRPr lang="en-US" sz="780" dirty="0"/>
          </a:p>
        </p:txBody>
      </p:sp>
      <p:sp>
        <p:nvSpPr>
          <p:cNvPr id="134" name="Text 132"/>
          <p:cNvSpPr/>
          <p:nvPr/>
        </p:nvSpPr>
        <p:spPr>
          <a:xfrm>
            <a:off x="6187745" y="4233672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— approx. 1 cm radius</a:t>
            </a:r>
            <a:endParaRPr lang="en-US" sz="780" dirty="0"/>
          </a:p>
        </p:txBody>
      </p:sp>
      <p:sp>
        <p:nvSpPr>
          <p:cNvPr id="135" name="Shape 133"/>
          <p:cNvSpPr/>
          <p:nvPr/>
        </p:nvSpPr>
        <p:spPr>
          <a:xfrm>
            <a:off x="4572000" y="4489704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187745" y="4489704"/>
            <a:ext cx="2636215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572000" y="4489704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finish</a:t>
            </a:r>
            <a:endParaRPr lang="en-US" sz="780" dirty="0"/>
          </a:p>
        </p:txBody>
      </p:sp>
      <p:sp>
        <p:nvSpPr>
          <p:cNvPr id="138" name="Text 136"/>
          <p:cNvSpPr/>
          <p:nvPr/>
        </p:nvSpPr>
        <p:spPr>
          <a:xfrm>
            <a:off x="6187745" y="4489704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 white — writeable and wipeable</a:t>
            </a:r>
            <a:endParaRPr lang="en-US" sz="780" dirty="0"/>
          </a:p>
        </p:txBody>
      </p:sp>
      <p:sp>
        <p:nvSpPr>
          <p:cNvPr id="139" name="Shape 137"/>
          <p:cNvSpPr/>
          <p:nvPr/>
        </p:nvSpPr>
        <p:spPr>
          <a:xfrm>
            <a:off x="4572000" y="4745736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187745" y="4745736"/>
            <a:ext cx="26362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572000" y="4745736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780" dirty="0"/>
          </a:p>
        </p:txBody>
      </p:sp>
      <p:sp>
        <p:nvSpPr>
          <p:cNvPr id="142" name="Text 140"/>
          <p:cNvSpPr/>
          <p:nvPr/>
        </p:nvSpPr>
        <p:spPr>
          <a:xfrm>
            <a:off x="6187745" y="4745736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after laminate — flush, no bubbles</a:t>
            </a:r>
            <a:endParaRPr lang="en-US" sz="780" dirty="0"/>
          </a:p>
        </p:txBody>
      </p:sp>
      <p:sp>
        <p:nvSpPr>
          <p:cNvPr id="143" name="Shape 141"/>
          <p:cNvSpPr/>
          <p:nvPr/>
        </p:nvSpPr>
        <p:spPr>
          <a:xfrm>
            <a:off x="4572000" y="5001768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187745" y="5001768"/>
            <a:ext cx="2636215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572000" y="5001768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compat.</a:t>
            </a:r>
            <a:endParaRPr lang="en-US" sz="780" dirty="0"/>
          </a:p>
        </p:txBody>
      </p:sp>
      <p:sp>
        <p:nvSpPr>
          <p:cNvPr id="146" name="Text 144"/>
          <p:cNvSpPr/>
          <p:nvPr/>
        </p:nvSpPr>
        <p:spPr>
          <a:xfrm>
            <a:off x="6187745" y="5001768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Posca PC-5M / standard whiteboard markers</a:t>
            </a:r>
            <a:endParaRPr lang="en-US" sz="780" dirty="0"/>
          </a:p>
        </p:txBody>
      </p:sp>
      <p:sp>
        <p:nvSpPr>
          <p:cNvPr id="147" name="Shape 145"/>
          <p:cNvSpPr/>
          <p:nvPr/>
        </p:nvSpPr>
        <p:spPr>
          <a:xfrm>
            <a:off x="4572000" y="5257800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187745" y="5257800"/>
            <a:ext cx="26362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572000" y="5257800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clean</a:t>
            </a:r>
            <a:endParaRPr lang="en-US" sz="780" dirty="0"/>
          </a:p>
        </p:txBody>
      </p:sp>
      <p:sp>
        <p:nvSpPr>
          <p:cNvPr id="150" name="Text 148"/>
          <p:cNvSpPr/>
          <p:nvPr/>
        </p:nvSpPr>
        <p:spPr>
          <a:xfrm>
            <a:off x="6187745" y="5257800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wipe clean with dry cloth or tissue</a:t>
            </a:r>
            <a:endParaRPr lang="en-US" sz="780" dirty="0"/>
          </a:p>
        </p:txBody>
      </p:sp>
      <p:sp>
        <p:nvSpPr>
          <p:cNvPr id="151" name="Shape 149"/>
          <p:cNvSpPr/>
          <p:nvPr/>
        </p:nvSpPr>
        <p:spPr>
          <a:xfrm>
            <a:off x="4572000" y="5678424"/>
            <a:ext cx="4251960" cy="310896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572000" y="5678424"/>
            <a:ext cx="425196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&amp; GRIP</a:t>
            </a:r>
            <a:endParaRPr lang="en-US" sz="950" dirty="0"/>
          </a:p>
        </p:txBody>
      </p:sp>
      <p:sp>
        <p:nvSpPr>
          <p:cNvPr id="153" name="Shape 151"/>
          <p:cNvSpPr/>
          <p:nvPr/>
        </p:nvSpPr>
        <p:spPr>
          <a:xfrm>
            <a:off x="4572000" y="6007608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187745" y="6007608"/>
            <a:ext cx="2636215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572000" y="6007608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material</a:t>
            </a:r>
            <a:endParaRPr lang="en-US" sz="780" dirty="0"/>
          </a:p>
        </p:txBody>
      </p:sp>
      <p:sp>
        <p:nvSpPr>
          <p:cNvPr id="156" name="Text 154"/>
          <p:cNvSpPr/>
          <p:nvPr/>
        </p:nvSpPr>
        <p:spPr>
          <a:xfrm>
            <a:off x="6187745" y="6007608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alucoboard sheet — cut as one piece</a:t>
            </a:r>
            <a:endParaRPr lang="en-US" sz="780" dirty="0"/>
          </a:p>
        </p:txBody>
      </p:sp>
      <p:sp>
        <p:nvSpPr>
          <p:cNvPr id="157" name="Shape 155"/>
          <p:cNvSpPr/>
          <p:nvPr/>
        </p:nvSpPr>
        <p:spPr>
          <a:xfrm>
            <a:off x="4572000" y="6263640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87745" y="6263640"/>
            <a:ext cx="26362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572000" y="6263640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wrap</a:t>
            </a:r>
            <a:endParaRPr lang="en-US" sz="780" dirty="0"/>
          </a:p>
        </p:txBody>
      </p:sp>
      <p:sp>
        <p:nvSpPr>
          <p:cNvPr id="160" name="Text 158"/>
          <p:cNvSpPr/>
          <p:nvPr/>
        </p:nvSpPr>
        <p:spPr>
          <a:xfrm>
            <a:off x="6187745" y="6263640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 black rubber grip tape</a:t>
            </a:r>
            <a:endParaRPr lang="en-US" sz="780" dirty="0"/>
          </a:p>
        </p:txBody>
      </p:sp>
      <p:sp>
        <p:nvSpPr>
          <p:cNvPr id="161" name="Shape 159"/>
          <p:cNvSpPr/>
          <p:nvPr/>
        </p:nvSpPr>
        <p:spPr>
          <a:xfrm>
            <a:off x="4572000" y="6519672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7745" y="6519672"/>
            <a:ext cx="2636215" cy="256032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572000" y="6519672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coverage</a:t>
            </a:r>
            <a:endParaRPr lang="en-US" sz="780" dirty="0"/>
          </a:p>
        </p:txBody>
      </p:sp>
      <p:sp>
        <p:nvSpPr>
          <p:cNvPr id="164" name="Text 162"/>
          <p:cNvSpPr/>
          <p:nvPr/>
        </p:nvSpPr>
        <p:spPr>
          <a:xfrm>
            <a:off x="6187745" y="6519672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handle height — comfortable hold</a:t>
            </a:r>
            <a:endParaRPr lang="en-US" sz="780" dirty="0"/>
          </a:p>
        </p:txBody>
      </p:sp>
      <p:sp>
        <p:nvSpPr>
          <p:cNvPr id="165" name="Shape 163"/>
          <p:cNvSpPr/>
          <p:nvPr/>
        </p:nvSpPr>
        <p:spPr>
          <a:xfrm>
            <a:off x="4572000" y="6775704"/>
            <a:ext cx="1615745" cy="256032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87745" y="6775704"/>
            <a:ext cx="2636215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572000" y="6775704"/>
            <a:ext cx="161574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hole</a:t>
            </a:r>
            <a:endParaRPr lang="en-US" sz="780" dirty="0"/>
          </a:p>
        </p:txBody>
      </p:sp>
      <p:sp>
        <p:nvSpPr>
          <p:cNvPr id="168" name="Text 166"/>
          <p:cNvSpPr/>
          <p:nvPr/>
        </p:nvSpPr>
        <p:spPr>
          <a:xfrm>
            <a:off x="6187745" y="6775704"/>
            <a:ext cx="2636215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8mm hole at handle top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DIMENSIONS DIAGRAM  ·  CRITICAL NOTES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 — Arrival Plaque Card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3108960" cy="1965960"/>
          </a:xfrm>
          <a:prstGeom prst="rect">
            <a:avLst/>
          </a:prstGeom>
          <a:solidFill>
            <a:srgbClr val="E3EEF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ZONE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(UV print — full colour)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73936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7393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DRY-ERASE PANEL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cm (W) × 10 cm (H)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27632" y="2624328"/>
            <a:ext cx="585216" cy="749808"/>
          </a:xfrm>
          <a:prstGeom prst="rect">
            <a:avLst/>
          </a:prstGeom>
          <a:solidFill>
            <a:srgbClr val="C5D7EA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2624328"/>
            <a:ext cx="5852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3502152"/>
            <a:ext cx="310896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204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40 cm (board width) →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" y="658368"/>
            <a:ext cx="0" cy="19659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1531620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64592" y="2624328"/>
            <a:ext cx="0" cy="749808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2889504"/>
            <a:ext cx="347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2423160"/>
            <a:ext cx="2834640" cy="0"/>
          </a:xfrm>
          <a:prstGeom prst="line">
            <a:avLst/>
          </a:prstGeom>
          <a:noFill/>
          <a:ln w="12700">
            <a:solidFill>
              <a:srgbClr val="C4A2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4144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4A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38 cm (dry-erase panel) →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749040" y="59436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Notes for Printer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941832"/>
            <a:ext cx="5212080" cy="20117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1005840"/>
            <a:ext cx="5212080" cy="42062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1005840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Alucoboard (3mm aluminium composite) only. Wood, acrylic, foam board or PVC will be rejected.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49040" y="1463040"/>
            <a:ext cx="5212080" cy="42062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1463040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DRY-ERASE PANEL: Genuine dry-erase white vinyl, self-adhesive, 38 cm × 10 cm. Wipe-clean performance must be confirmed before delivery.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49040" y="1920240"/>
            <a:ext cx="5212080" cy="420624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1920240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FINISH: Matte laminate over entire board face before applying dry-erase panel. Gloss finish will not be accepted.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49040" y="2377440"/>
            <a:ext cx="5212080" cy="420624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2377440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ARTWORK: Print from WELCOME_PLAQUE_CARD-01.png only. Do not alter any element — no recolouring, cropping, or repositioning.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49040" y="2834640"/>
            <a:ext cx="5212080" cy="420624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22192" y="2834640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CUTTING: CNC router required. All edges smooth and de-burred. Corner radius must match the artwork reference.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49040" y="3291840"/>
            <a:ext cx="5212080" cy="420624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3291840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Supply physical or digital pre-production proof before full run. No production without client sign-off.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49040" y="3749040"/>
            <a:ext cx="5212080" cy="420624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22192" y="3749040"/>
            <a:ext cx="5102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Wrap each unit individually to protect the dry-erase surface in transit.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COLOURS  ·  SIGN-OFF 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 — Arrival Plaque Card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 — Reference palette (print from supplied artwork file — do not colour-match manually)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1280160" cy="749808"/>
          </a:xfrm>
          <a:prstGeom prst="rect">
            <a:avLst/>
          </a:prstGeom>
          <a:solidFill>
            <a:srgbClr val="E9F5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Blue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3350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#E9F5FF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783080" y="896112"/>
            <a:ext cx="1280160" cy="749808"/>
          </a:xfrm>
          <a:prstGeom prst="rect">
            <a:avLst/>
          </a:prstGeom>
          <a:solidFill>
            <a:srgbClr val="93BFE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Jordy Blue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83080" y="13350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#93BFEF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0" y="896112"/>
            <a:ext cx="1280160" cy="749808"/>
          </a:xfrm>
          <a:prstGeom prst="rect">
            <a:avLst/>
          </a:prstGeom>
          <a:solidFill>
            <a:srgbClr val="468B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Tufts Blue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0" y="13350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#468BE6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17720" y="896112"/>
            <a:ext cx="1280160" cy="749808"/>
          </a:xfrm>
          <a:prstGeom prst="rect">
            <a:avLst/>
          </a:prstGeom>
          <a:solidFill>
            <a:srgbClr val="1A579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Cobalt Blue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17720" y="13350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#1A5799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35040" y="896112"/>
            <a:ext cx="1280160" cy="749808"/>
          </a:xfrm>
          <a:prstGeom prst="rect">
            <a:avLst/>
          </a:prstGeom>
          <a:solidFill>
            <a:srgbClr val="C4A26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Gold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35040" y="13350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#C4A265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452360" y="896112"/>
            <a:ext cx="1280160" cy="749808"/>
          </a:xfrm>
          <a:prstGeom prst="rect">
            <a:avLst/>
          </a:prstGeom>
          <a:solidFill>
            <a:srgbClr val="F0EBE3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8961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52360" y="133502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#F0EBE3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1719072"/>
            <a:ext cx="8412480" cy="20117"/>
          </a:xfrm>
          <a:prstGeom prst="rect">
            <a:avLst/>
          </a:prstGeom>
          <a:solidFill>
            <a:srgbClr val="C4A265"/>
          </a:solidFill>
          <a:ln w="12700">
            <a:solidFill>
              <a:srgbClr val="C4A2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79222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7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Sign-Off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2157984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2157984"/>
            <a:ext cx="6126480" cy="260604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157984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51760" y="2157984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Blue Diani — Airport Arrival Plaque Card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2418588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2418588"/>
            <a:ext cx="612648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418588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file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51760" y="2418588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WELCOME_PLAQUE_CARD-01.png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2679192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51760" y="2679192"/>
            <a:ext cx="6126480" cy="260604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679192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651760" y="2679192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3mm Alucoboard — aluminium composite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2939796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51760" y="2939796"/>
            <a:ext cx="612648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939796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size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51760" y="2939796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cm (W) × 24 cm (H)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3200400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51760" y="3200400"/>
            <a:ext cx="6126480" cy="260604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200400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651760" y="3200400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7 cm (W) × 10 cm (H) — centred — rubber grip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3461004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51760" y="3461004"/>
            <a:ext cx="612648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461004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panel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651760" y="3461004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cm (W) × 10 cm (H) — dry-erase white vinyl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3721608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51760" y="3721608"/>
            <a:ext cx="6126480" cy="260604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721608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651760" y="3721608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 laminate — full board face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3982212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651760" y="3982212"/>
            <a:ext cx="612648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3982212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651760" y="3982212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 units  (to be confirmed by client)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5760" y="4242816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51760" y="4242816"/>
            <a:ext cx="6126480" cy="260604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242816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approved by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651760" y="4242816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4503420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51760" y="4503420"/>
            <a:ext cx="612648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4503420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date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651760" y="4503420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65760" y="4764024"/>
            <a:ext cx="2286000" cy="260604"/>
          </a:xfrm>
          <a:prstGeom prst="rect">
            <a:avLst/>
          </a:prstGeom>
          <a:solidFill>
            <a:srgbClr val="DCE9F8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51760" y="4764024"/>
            <a:ext cx="6126480" cy="260604"/>
          </a:xfrm>
          <a:prstGeom prst="rect">
            <a:avLst/>
          </a:prstGeom>
          <a:solidFill>
            <a:srgbClr val="F4F9FE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4764024"/>
            <a:ext cx="228600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ref.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651760" y="4764024"/>
            <a:ext cx="6126480" cy="260604"/>
          </a:xfrm>
          <a:prstGeom prst="rect">
            <a:avLst/>
          </a:prstGeom>
          <a:noFill/>
          <a:ln/>
        </p:spPr>
        <p:txBody>
          <a:bodyPr wrap="square" lIns="0" tIns="8890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A5799"/>
          </a:solidFill>
          <a:ln w="12700">
            <a:solidFill>
              <a:srgbClr val="1A579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B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Soroi Collection  ·  reservations@soroi.com  ·  +254 754 351 908  ·  www.soroi.com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867</Words>
  <Application>Microsoft Macintosh PowerPoint</Application>
  <PresentationFormat>On-screen Show (16:9)</PresentationFormat>
  <Paragraphs>184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Soroi Blue Diani – Arrival Plaque Print Brief</dc:title>
  <dc:subject>PptxGenJS Presentation</dc:subject>
  <dc:creator>PptxGenJS</dc:creator>
  <cp:lastModifiedBy>Microsoft Office User</cp:lastModifiedBy>
  <cp:revision>1</cp:revision>
  <dcterms:created xsi:type="dcterms:W3CDTF">2026-06-04T13:07:24Z</dcterms:created>
  <dcterms:modified xsi:type="dcterms:W3CDTF">2026-06-04T13:10:01Z</dcterms:modified>
</cp:coreProperties>
</file>