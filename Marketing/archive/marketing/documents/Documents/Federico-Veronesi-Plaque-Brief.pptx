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610"/>
  </p:normalViewPr>
  <p:slideViewPr>
    <p:cSldViewPr snapToGrid="0" snapToObjects="1">
      <p:cViewPr varScale="1">
        <p:scale>
          <a:sx n="144" d="100"/>
          <a:sy n="144" d="100"/>
        </p:scale>
        <p:origin x="72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3708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208"/>
        </a:solidFill>
        <a:effectLst/>
      </p:bgPr>
    </p:bg>
    <p:spTree>
      <p:nvGrpSpPr>
        <p:cNvPr id="1" name=""/>
        <p:cNvGrpSpPr/>
        <p:nvPr/>
      </p:nvGrpSpPr>
      <p:grpSpPr>
        <a:xfrm>
          <a:off x="0" y="0"/>
          <a:ext cx="0" cy="0"/>
          <a:chOff x="0" y="0"/>
          <a:chExt cx="0" cy="0"/>
        </a:xfrm>
      </p:grpSpPr>
      <p:pic>
        <p:nvPicPr>
          <p:cNvPr id="2" name="Image 0" descr="/home/claude/plaque_insitu.png"/>
          <p:cNvPicPr>
            <a:picLocks noChangeAspect="1"/>
          </p:cNvPicPr>
          <p:nvPr/>
        </p:nvPicPr>
        <p:blipFill>
          <a:blip r:embed="rId3"/>
          <a:srcRect/>
          <a:stretch/>
        </p:blipFill>
        <p:spPr>
          <a:xfrm>
            <a:off x="106532" y="836498"/>
            <a:ext cx="4754880" cy="3100083"/>
          </a:xfrm>
          <a:prstGeom prst="rect">
            <a:avLst/>
          </a:prstGeom>
        </p:spPr>
      </p:pic>
      <p:sp>
        <p:nvSpPr>
          <p:cNvPr id="4" name="Shape 1"/>
          <p:cNvSpPr/>
          <p:nvPr/>
        </p:nvSpPr>
        <p:spPr>
          <a:xfrm>
            <a:off x="5029200" y="960120"/>
            <a:ext cx="3657600" cy="22860"/>
          </a:xfrm>
          <a:prstGeom prst="rect">
            <a:avLst/>
          </a:prstGeom>
          <a:solidFill>
            <a:srgbClr val="C4A265"/>
          </a:solidFill>
          <a:ln w="12700">
            <a:solidFill>
              <a:srgbClr val="C4A265"/>
            </a:solidFill>
            <a:prstDash val="solid"/>
          </a:ln>
        </p:spPr>
      </p:sp>
      <p:sp>
        <p:nvSpPr>
          <p:cNvPr id="5" name="Text 2"/>
          <p:cNvSpPr/>
          <p:nvPr/>
        </p:nvSpPr>
        <p:spPr>
          <a:xfrm>
            <a:off x="5029200" y="502920"/>
            <a:ext cx="3657600" cy="365760"/>
          </a:xfrm>
          <a:prstGeom prst="rect">
            <a:avLst/>
          </a:prstGeom>
          <a:noFill/>
          <a:ln/>
        </p:spPr>
        <p:txBody>
          <a:bodyPr wrap="square" lIns="0" tIns="0" rIns="0" bIns="0" rtlCol="0" anchor="ctr"/>
          <a:lstStyle/>
          <a:p>
            <a:pPr marL="0" indent="0" algn="l">
              <a:buNone/>
            </a:pPr>
            <a:r>
              <a:rPr lang="en-US" sz="900" kern="0" spc="500" dirty="0">
                <a:solidFill>
                  <a:srgbClr val="C4A265"/>
                </a:solidFill>
                <a:latin typeface="Cambria" pitchFamily="34" charset="0"/>
                <a:ea typeface="Cambria" pitchFamily="34" charset="-122"/>
                <a:cs typeface="Cambria" pitchFamily="34" charset="-120"/>
              </a:rPr>
              <a:t>SOROI COLLECTION</a:t>
            </a:r>
            <a:endParaRPr lang="en-US" sz="900" dirty="0"/>
          </a:p>
        </p:txBody>
      </p:sp>
      <p:sp>
        <p:nvSpPr>
          <p:cNvPr id="6" name="Text 3"/>
          <p:cNvSpPr/>
          <p:nvPr/>
        </p:nvSpPr>
        <p:spPr>
          <a:xfrm>
            <a:off x="5029200" y="1097280"/>
            <a:ext cx="3840480" cy="1737360"/>
          </a:xfrm>
          <a:prstGeom prst="rect">
            <a:avLst/>
          </a:prstGeom>
          <a:noFill/>
          <a:ln/>
        </p:spPr>
        <p:txBody>
          <a:bodyPr wrap="square" lIns="0" tIns="0" rIns="0" bIns="0" rtlCol="0" anchor="ctr"/>
          <a:lstStyle/>
          <a:p>
            <a:pPr marL="0" indent="0" algn="l">
              <a:buNone/>
            </a:pPr>
            <a:r>
              <a:rPr lang="en-US" sz="5200" b="1" dirty="0">
                <a:solidFill>
                  <a:srgbClr val="F5EDD8"/>
                </a:solidFill>
                <a:latin typeface="Cambria" pitchFamily="34" charset="0"/>
                <a:ea typeface="Cambria" pitchFamily="34" charset="-122"/>
                <a:cs typeface="Cambria" pitchFamily="34" charset="-120"/>
              </a:rPr>
              <a:t>Federico</a:t>
            </a:r>
            <a:endParaRPr lang="en-US" sz="5200" dirty="0"/>
          </a:p>
          <a:p>
            <a:pPr marL="0" indent="0" algn="l">
              <a:buNone/>
            </a:pPr>
            <a:r>
              <a:rPr lang="en-US" sz="5200" b="1" dirty="0">
                <a:solidFill>
                  <a:srgbClr val="F5EDD8"/>
                </a:solidFill>
                <a:latin typeface="Cambria" pitchFamily="34" charset="0"/>
                <a:ea typeface="Cambria" pitchFamily="34" charset="-122"/>
                <a:cs typeface="Cambria" pitchFamily="34" charset="-120"/>
              </a:rPr>
              <a:t>Veronesi</a:t>
            </a:r>
            <a:endParaRPr lang="en-US" sz="5200" dirty="0"/>
          </a:p>
        </p:txBody>
      </p:sp>
      <p:sp>
        <p:nvSpPr>
          <p:cNvPr id="7" name="Text 4"/>
          <p:cNvSpPr/>
          <p:nvPr/>
        </p:nvSpPr>
        <p:spPr>
          <a:xfrm>
            <a:off x="5029200" y="2880360"/>
            <a:ext cx="3840480" cy="365760"/>
          </a:xfrm>
          <a:prstGeom prst="rect">
            <a:avLst/>
          </a:prstGeom>
          <a:noFill/>
          <a:ln/>
        </p:spPr>
        <p:txBody>
          <a:bodyPr wrap="square" lIns="0" tIns="0" rIns="0" bIns="0" rtlCol="0" anchor="ctr"/>
          <a:lstStyle/>
          <a:p>
            <a:pPr marL="0" indent="0" algn="l">
              <a:buNone/>
            </a:pPr>
            <a:r>
              <a:rPr lang="en-US" sz="1100" kern="0" spc="400" dirty="0">
                <a:solidFill>
                  <a:srgbClr val="C4A265"/>
                </a:solidFill>
                <a:latin typeface="Cambria" pitchFamily="34" charset="0"/>
                <a:ea typeface="Cambria" pitchFamily="34" charset="-122"/>
                <a:cs typeface="Cambria" pitchFamily="34" charset="-120"/>
              </a:rPr>
              <a:t>COMMEMORATIVE PLAQUE</a:t>
            </a:r>
            <a:endParaRPr lang="en-US" sz="1100" dirty="0"/>
          </a:p>
        </p:txBody>
      </p:sp>
      <p:sp>
        <p:nvSpPr>
          <p:cNvPr id="8" name="Text 5"/>
          <p:cNvSpPr/>
          <p:nvPr/>
        </p:nvSpPr>
        <p:spPr>
          <a:xfrm>
            <a:off x="5029200" y="3291840"/>
            <a:ext cx="3840480" cy="365760"/>
          </a:xfrm>
          <a:prstGeom prst="rect">
            <a:avLst/>
          </a:prstGeom>
          <a:noFill/>
          <a:ln/>
        </p:spPr>
        <p:txBody>
          <a:bodyPr wrap="square" lIns="0" tIns="0" rIns="0" bIns="0" rtlCol="0" anchor="ctr"/>
          <a:lstStyle/>
          <a:p>
            <a:pPr marL="0" indent="0" algn="l">
              <a:buNone/>
            </a:pPr>
            <a:r>
              <a:rPr lang="en-US" sz="1300" i="1" dirty="0">
                <a:solidFill>
                  <a:srgbClr val="8C7B6B"/>
                </a:solidFill>
                <a:latin typeface="Cambria" pitchFamily="34" charset="0"/>
                <a:ea typeface="Cambria" pitchFamily="34" charset="-122"/>
                <a:cs typeface="Cambria" pitchFamily="34" charset="-120"/>
              </a:rPr>
              <a:t>Concept, Artwork &amp; Manufacturing Brief</a:t>
            </a:r>
            <a:endParaRPr lang="en-US" sz="1300" dirty="0"/>
          </a:p>
        </p:txBody>
      </p:sp>
      <p:sp>
        <p:nvSpPr>
          <p:cNvPr id="9" name="Shape 6"/>
          <p:cNvSpPr/>
          <p:nvPr/>
        </p:nvSpPr>
        <p:spPr>
          <a:xfrm>
            <a:off x="5029200" y="3749040"/>
            <a:ext cx="3657600" cy="22860"/>
          </a:xfrm>
          <a:prstGeom prst="rect">
            <a:avLst/>
          </a:prstGeom>
          <a:solidFill>
            <a:srgbClr val="C4A265"/>
          </a:solidFill>
          <a:ln w="12700">
            <a:solidFill>
              <a:srgbClr val="C4A265"/>
            </a:solidFill>
            <a:prstDash val="solid"/>
          </a:ln>
        </p:spPr>
      </p:sp>
      <p:sp>
        <p:nvSpPr>
          <p:cNvPr id="10" name="Text 7"/>
          <p:cNvSpPr/>
          <p:nvPr/>
        </p:nvSpPr>
        <p:spPr>
          <a:xfrm>
            <a:off x="5029200" y="3840480"/>
            <a:ext cx="3657600" cy="320040"/>
          </a:xfrm>
          <a:prstGeom prst="rect">
            <a:avLst/>
          </a:prstGeom>
          <a:noFill/>
          <a:ln/>
        </p:spPr>
        <p:txBody>
          <a:bodyPr wrap="square" lIns="0" tIns="0" rIns="0" bIns="0" rtlCol="0" anchor="ctr"/>
          <a:lstStyle/>
          <a:p>
            <a:pPr marL="0" indent="0" algn="l">
              <a:buNone/>
            </a:pPr>
            <a:r>
              <a:rPr lang="en-US" sz="1000" kern="0" spc="200" dirty="0">
                <a:solidFill>
                  <a:srgbClr val="8C7B6B"/>
                </a:solidFill>
                <a:latin typeface="Cambria" pitchFamily="34" charset="0"/>
                <a:ea typeface="Cambria" pitchFamily="34" charset="-122"/>
                <a:cs typeface="Cambria" pitchFamily="34" charset="-120"/>
              </a:rPr>
              <a:t>Soroi Amboseli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208"/>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marL="0" indent="0" algn="l">
              <a:buNone/>
            </a:pPr>
            <a:r>
              <a:rPr lang="en-US" sz="900" kern="0" spc="500" dirty="0">
                <a:solidFill>
                  <a:srgbClr val="C4A265"/>
                </a:solidFill>
                <a:latin typeface="Cambria" pitchFamily="34" charset="0"/>
                <a:ea typeface="Cambria" pitchFamily="34" charset="-122"/>
                <a:cs typeface="Cambria" pitchFamily="34" charset="-120"/>
              </a:rPr>
              <a:t>01  /  CONCEPT</a:t>
            </a:r>
            <a:endParaRPr lang="en-US" sz="900" dirty="0"/>
          </a:p>
        </p:txBody>
      </p:sp>
      <p:sp>
        <p:nvSpPr>
          <p:cNvPr id="3" name="Text 1"/>
          <p:cNvSpPr/>
          <p:nvPr/>
        </p:nvSpPr>
        <p:spPr>
          <a:xfrm>
            <a:off x="457200" y="685800"/>
            <a:ext cx="8229600" cy="594360"/>
          </a:xfrm>
          <a:prstGeom prst="rect">
            <a:avLst/>
          </a:prstGeom>
          <a:noFill/>
          <a:ln/>
        </p:spPr>
        <p:txBody>
          <a:bodyPr wrap="square" lIns="0" tIns="0" rIns="0" bIns="0" rtlCol="0" anchor="ctr"/>
          <a:lstStyle/>
          <a:p>
            <a:pPr marL="0" indent="0" algn="l">
              <a:buNone/>
            </a:pPr>
            <a:r>
              <a:rPr lang="en-US" sz="3400" b="1" dirty="0">
                <a:solidFill>
                  <a:srgbClr val="F5EDD8"/>
                </a:solidFill>
                <a:latin typeface="Cambria" pitchFamily="34" charset="0"/>
                <a:ea typeface="Cambria" pitchFamily="34" charset="-122"/>
                <a:cs typeface="Cambria" pitchFamily="34" charset="-120"/>
              </a:rPr>
              <a:t>The Story Behind the Plaque</a:t>
            </a:r>
            <a:endParaRPr lang="en-US" sz="3400" dirty="0"/>
          </a:p>
        </p:txBody>
      </p:sp>
      <p:sp>
        <p:nvSpPr>
          <p:cNvPr id="4" name="Shape 2"/>
          <p:cNvSpPr/>
          <p:nvPr/>
        </p:nvSpPr>
        <p:spPr>
          <a:xfrm>
            <a:off x="457200" y="1371600"/>
            <a:ext cx="8229600" cy="18288"/>
          </a:xfrm>
          <a:prstGeom prst="rect">
            <a:avLst/>
          </a:prstGeom>
          <a:solidFill>
            <a:srgbClr val="8B6914"/>
          </a:solidFill>
          <a:ln w="12700">
            <a:solidFill>
              <a:srgbClr val="8B6914"/>
            </a:solidFill>
            <a:prstDash val="solid"/>
          </a:ln>
        </p:spPr>
      </p:sp>
      <p:sp>
        <p:nvSpPr>
          <p:cNvPr id="5" name="Shape 3"/>
          <p:cNvSpPr/>
          <p:nvPr/>
        </p:nvSpPr>
        <p:spPr>
          <a:xfrm>
            <a:off x="457200" y="1554480"/>
            <a:ext cx="2651760" cy="3108960"/>
          </a:xfrm>
          <a:prstGeom prst="roundRect">
            <a:avLst>
              <a:gd name="adj" fmla="val 2759"/>
            </a:avLst>
          </a:prstGeom>
          <a:solidFill>
            <a:srgbClr val="3D2B0F"/>
          </a:solidFill>
          <a:ln w="12700">
            <a:solidFill>
              <a:srgbClr val="8B6914"/>
            </a:solidFill>
            <a:prstDash val="solid"/>
          </a:ln>
          <a:effectLst>
            <a:outerShdw blurRad="127000" dist="38100" dir="2700000" algn="bl" rotWithShape="0">
              <a:srgbClr val="000000">
                <a:alpha val="35000"/>
              </a:srgbClr>
            </a:outerShdw>
          </a:effectLst>
        </p:spPr>
      </p:sp>
      <p:sp>
        <p:nvSpPr>
          <p:cNvPr id="6" name="Text 4"/>
          <p:cNvSpPr/>
          <p:nvPr/>
        </p:nvSpPr>
        <p:spPr>
          <a:xfrm>
            <a:off x="640080" y="1691640"/>
            <a:ext cx="457200" cy="411480"/>
          </a:xfrm>
          <a:prstGeom prst="rect">
            <a:avLst/>
          </a:prstGeom>
          <a:noFill/>
          <a:ln/>
        </p:spPr>
        <p:txBody>
          <a:bodyPr wrap="square" lIns="0" tIns="0" rIns="0" bIns="0" rtlCol="0" anchor="ctr"/>
          <a:lstStyle/>
          <a:p>
            <a:pPr marL="0" indent="0" algn="l">
              <a:buNone/>
            </a:pPr>
            <a:r>
              <a:rPr lang="en-US" sz="2200" dirty="0">
                <a:solidFill>
                  <a:srgbClr val="C4A265"/>
                </a:solidFill>
                <a:latin typeface="Cambria" pitchFamily="34" charset="0"/>
                <a:ea typeface="Cambria" pitchFamily="34" charset="-122"/>
                <a:cs typeface="Cambria" pitchFamily="34" charset="-120"/>
              </a:rPr>
              <a:t>◎</a:t>
            </a:r>
            <a:endParaRPr lang="en-US" sz="2200" dirty="0"/>
          </a:p>
        </p:txBody>
      </p:sp>
      <p:sp>
        <p:nvSpPr>
          <p:cNvPr id="7" name="Text 5"/>
          <p:cNvSpPr/>
          <p:nvPr/>
        </p:nvSpPr>
        <p:spPr>
          <a:xfrm>
            <a:off x="640080" y="2148840"/>
            <a:ext cx="2286000" cy="411480"/>
          </a:xfrm>
          <a:prstGeom prst="rect">
            <a:avLst/>
          </a:prstGeom>
          <a:noFill/>
          <a:ln/>
        </p:spPr>
        <p:txBody>
          <a:bodyPr wrap="square" lIns="0" tIns="0" rIns="0" bIns="0" rtlCol="0" anchor="ctr"/>
          <a:lstStyle/>
          <a:p>
            <a:pPr marL="0" indent="0" algn="l">
              <a:buNone/>
            </a:pPr>
            <a:r>
              <a:rPr lang="en-US" sz="1400" b="1" dirty="0">
                <a:solidFill>
                  <a:srgbClr val="E8C97A"/>
                </a:solidFill>
                <a:latin typeface="Cambria" pitchFamily="34" charset="0"/>
                <a:ea typeface="Cambria" pitchFamily="34" charset="-122"/>
                <a:cs typeface="Cambria" pitchFamily="34" charset="-120"/>
              </a:rPr>
              <a:t>Why a Plaque</a:t>
            </a:r>
            <a:endParaRPr lang="en-US" sz="1400" dirty="0"/>
          </a:p>
        </p:txBody>
      </p:sp>
      <p:sp>
        <p:nvSpPr>
          <p:cNvPr id="8" name="Text 6"/>
          <p:cNvSpPr/>
          <p:nvPr/>
        </p:nvSpPr>
        <p:spPr>
          <a:xfrm>
            <a:off x="640080" y="2606040"/>
            <a:ext cx="2331720" cy="1920240"/>
          </a:xfrm>
          <a:prstGeom prst="rect">
            <a:avLst/>
          </a:prstGeom>
          <a:noFill/>
          <a:ln/>
        </p:spPr>
        <p:txBody>
          <a:bodyPr wrap="square" lIns="0" tIns="0" rIns="0" bIns="0" rtlCol="0" anchor="t"/>
          <a:lstStyle/>
          <a:p>
            <a:pPr marL="0" indent="0" algn="l">
              <a:buNone/>
            </a:pPr>
            <a:r>
              <a:rPr lang="en-US" sz="1050" dirty="0">
                <a:solidFill>
                  <a:srgbClr val="EDE0C4"/>
                </a:solidFill>
                <a:latin typeface="Cambria" pitchFamily="34" charset="0"/>
                <a:ea typeface="Cambria" pitchFamily="34" charset="-122"/>
                <a:cs typeface="Cambria" pitchFamily="34" charset="-120"/>
              </a:rPr>
              <a:t>Federico Veronesi's fine-art prints hang throughout every Soroi property. His images define how guests see and feel the wildlife around them. The plaque is a formal recognition of that contribution — permanent, physical, and placed in the landscape he has spent a lifetime photographing.</a:t>
            </a:r>
            <a:endParaRPr lang="en-US" sz="1050" dirty="0"/>
          </a:p>
        </p:txBody>
      </p:sp>
      <p:sp>
        <p:nvSpPr>
          <p:cNvPr id="9" name="Shape 7"/>
          <p:cNvSpPr/>
          <p:nvPr/>
        </p:nvSpPr>
        <p:spPr>
          <a:xfrm>
            <a:off x="3310128" y="1554480"/>
            <a:ext cx="2651760" cy="3108960"/>
          </a:xfrm>
          <a:prstGeom prst="roundRect">
            <a:avLst>
              <a:gd name="adj" fmla="val 2759"/>
            </a:avLst>
          </a:prstGeom>
          <a:solidFill>
            <a:srgbClr val="3D2B0F"/>
          </a:solidFill>
          <a:ln w="12700">
            <a:solidFill>
              <a:srgbClr val="8B6914"/>
            </a:solidFill>
            <a:prstDash val="solid"/>
          </a:ln>
          <a:effectLst>
            <a:outerShdw blurRad="127000" dist="38100" dir="2700000" algn="bl" rotWithShape="0">
              <a:srgbClr val="000000">
                <a:alpha val="35000"/>
              </a:srgbClr>
            </a:outerShdw>
          </a:effectLst>
        </p:spPr>
      </p:sp>
      <p:sp>
        <p:nvSpPr>
          <p:cNvPr id="10" name="Text 8"/>
          <p:cNvSpPr/>
          <p:nvPr/>
        </p:nvSpPr>
        <p:spPr>
          <a:xfrm>
            <a:off x="3493008" y="1691640"/>
            <a:ext cx="457200" cy="411480"/>
          </a:xfrm>
          <a:prstGeom prst="rect">
            <a:avLst/>
          </a:prstGeom>
          <a:noFill/>
          <a:ln/>
        </p:spPr>
        <p:txBody>
          <a:bodyPr wrap="square" lIns="0" tIns="0" rIns="0" bIns="0" rtlCol="0" anchor="ctr"/>
          <a:lstStyle/>
          <a:p>
            <a:pPr marL="0" indent="0" algn="l">
              <a:buNone/>
            </a:pPr>
            <a:r>
              <a:rPr lang="en-US" sz="2200" dirty="0">
                <a:solidFill>
                  <a:srgbClr val="C4A265"/>
                </a:solidFill>
                <a:latin typeface="Cambria" pitchFamily="34" charset="0"/>
                <a:ea typeface="Cambria" pitchFamily="34" charset="-122"/>
                <a:cs typeface="Cambria" pitchFamily="34" charset="-120"/>
              </a:rPr>
              <a:t>◈</a:t>
            </a:r>
            <a:endParaRPr lang="en-US" sz="2200" dirty="0"/>
          </a:p>
        </p:txBody>
      </p:sp>
      <p:sp>
        <p:nvSpPr>
          <p:cNvPr id="11" name="Text 9"/>
          <p:cNvSpPr/>
          <p:nvPr/>
        </p:nvSpPr>
        <p:spPr>
          <a:xfrm>
            <a:off x="3493008" y="2148840"/>
            <a:ext cx="2286000" cy="411480"/>
          </a:xfrm>
          <a:prstGeom prst="rect">
            <a:avLst/>
          </a:prstGeom>
          <a:noFill/>
          <a:ln/>
        </p:spPr>
        <p:txBody>
          <a:bodyPr wrap="square" lIns="0" tIns="0" rIns="0" bIns="0" rtlCol="0" anchor="ctr"/>
          <a:lstStyle/>
          <a:p>
            <a:pPr marL="0" indent="0" algn="l">
              <a:buNone/>
            </a:pPr>
            <a:r>
              <a:rPr lang="en-US" sz="1400" b="1" dirty="0">
                <a:solidFill>
                  <a:srgbClr val="E8C97A"/>
                </a:solidFill>
                <a:latin typeface="Cambria" pitchFamily="34" charset="0"/>
                <a:ea typeface="Cambria" pitchFamily="34" charset="-122"/>
                <a:cs typeface="Cambria" pitchFamily="34" charset="-120"/>
              </a:rPr>
              <a:t>Why Amboseli</a:t>
            </a:r>
            <a:endParaRPr lang="en-US" sz="1400" dirty="0"/>
          </a:p>
        </p:txBody>
      </p:sp>
      <p:sp>
        <p:nvSpPr>
          <p:cNvPr id="12" name="Text 10"/>
          <p:cNvSpPr/>
          <p:nvPr/>
        </p:nvSpPr>
        <p:spPr>
          <a:xfrm>
            <a:off x="3493008" y="2606040"/>
            <a:ext cx="2331720" cy="1920240"/>
          </a:xfrm>
          <a:prstGeom prst="rect">
            <a:avLst/>
          </a:prstGeom>
          <a:noFill/>
          <a:ln/>
        </p:spPr>
        <p:txBody>
          <a:bodyPr wrap="square" lIns="0" tIns="0" rIns="0" bIns="0" rtlCol="0" anchor="t"/>
          <a:lstStyle/>
          <a:p>
            <a:pPr marL="0" indent="0" algn="l">
              <a:buNone/>
            </a:pPr>
            <a:r>
              <a:rPr lang="en-US" sz="1050" dirty="0">
                <a:solidFill>
                  <a:srgbClr val="EDE0C4"/>
                </a:solidFill>
                <a:latin typeface="Cambria" pitchFamily="34" charset="0"/>
                <a:ea typeface="Cambria" pitchFamily="34" charset="-122"/>
                <a:cs typeface="Cambria" pitchFamily="34" charset="-120"/>
              </a:rPr>
              <a:t>Amboseli is where Federico made one of the defining encounters of his career — with Tim, one of Africa's last great tuskers. The connection between this photographer and this landscape is not incidental. It is the subject matter of his life's work. Placing the plaque here is the only right choice.</a:t>
            </a:r>
            <a:endParaRPr lang="en-US" sz="1050" dirty="0"/>
          </a:p>
        </p:txBody>
      </p:sp>
      <p:sp>
        <p:nvSpPr>
          <p:cNvPr id="13" name="Shape 11"/>
          <p:cNvSpPr/>
          <p:nvPr/>
        </p:nvSpPr>
        <p:spPr>
          <a:xfrm>
            <a:off x="6163056" y="1554480"/>
            <a:ext cx="2651760" cy="3108960"/>
          </a:xfrm>
          <a:prstGeom prst="roundRect">
            <a:avLst>
              <a:gd name="adj" fmla="val 2759"/>
            </a:avLst>
          </a:prstGeom>
          <a:solidFill>
            <a:srgbClr val="3D2B0F"/>
          </a:solidFill>
          <a:ln w="12700">
            <a:solidFill>
              <a:srgbClr val="8B6914"/>
            </a:solidFill>
            <a:prstDash val="solid"/>
          </a:ln>
          <a:effectLst>
            <a:outerShdw blurRad="127000" dist="38100" dir="2700000" algn="bl" rotWithShape="0">
              <a:srgbClr val="000000">
                <a:alpha val="35000"/>
              </a:srgbClr>
            </a:outerShdw>
          </a:effectLst>
        </p:spPr>
      </p:sp>
      <p:sp>
        <p:nvSpPr>
          <p:cNvPr id="14" name="Text 12"/>
          <p:cNvSpPr/>
          <p:nvPr/>
        </p:nvSpPr>
        <p:spPr>
          <a:xfrm>
            <a:off x="6345936" y="1691640"/>
            <a:ext cx="457200" cy="411480"/>
          </a:xfrm>
          <a:prstGeom prst="rect">
            <a:avLst/>
          </a:prstGeom>
          <a:noFill/>
          <a:ln/>
        </p:spPr>
        <p:txBody>
          <a:bodyPr wrap="square" lIns="0" tIns="0" rIns="0" bIns="0" rtlCol="0" anchor="ctr"/>
          <a:lstStyle/>
          <a:p>
            <a:pPr marL="0" indent="0" algn="l">
              <a:buNone/>
            </a:pPr>
            <a:r>
              <a:rPr lang="en-US" sz="2200" dirty="0">
                <a:solidFill>
                  <a:srgbClr val="C4A265"/>
                </a:solidFill>
                <a:latin typeface="Cambria" pitchFamily="34" charset="0"/>
                <a:ea typeface="Cambria" pitchFamily="34" charset="-122"/>
                <a:cs typeface="Cambria" pitchFamily="34" charset="-120"/>
              </a:rPr>
              <a:t>◇</a:t>
            </a:r>
            <a:endParaRPr lang="en-US" sz="2200" dirty="0"/>
          </a:p>
        </p:txBody>
      </p:sp>
      <p:sp>
        <p:nvSpPr>
          <p:cNvPr id="15" name="Text 13"/>
          <p:cNvSpPr/>
          <p:nvPr/>
        </p:nvSpPr>
        <p:spPr>
          <a:xfrm>
            <a:off x="6345936" y="2148840"/>
            <a:ext cx="2286000" cy="411480"/>
          </a:xfrm>
          <a:prstGeom prst="rect">
            <a:avLst/>
          </a:prstGeom>
          <a:noFill/>
          <a:ln/>
        </p:spPr>
        <p:txBody>
          <a:bodyPr wrap="square" lIns="0" tIns="0" rIns="0" bIns="0" rtlCol="0" anchor="ctr"/>
          <a:lstStyle/>
          <a:p>
            <a:pPr marL="0" indent="0" algn="l">
              <a:buNone/>
            </a:pPr>
            <a:r>
              <a:rPr lang="en-US" sz="1400" b="1" dirty="0">
                <a:solidFill>
                  <a:srgbClr val="E8C97A"/>
                </a:solidFill>
                <a:latin typeface="Cambria" pitchFamily="34" charset="0"/>
                <a:ea typeface="Cambria" pitchFamily="34" charset="-122"/>
                <a:cs typeface="Cambria" pitchFamily="34" charset="-120"/>
              </a:rPr>
              <a:t>Why This Format</a:t>
            </a:r>
            <a:endParaRPr lang="en-US" sz="1400" dirty="0"/>
          </a:p>
        </p:txBody>
      </p:sp>
      <p:sp>
        <p:nvSpPr>
          <p:cNvPr id="16" name="Text 14"/>
          <p:cNvSpPr/>
          <p:nvPr/>
        </p:nvSpPr>
        <p:spPr>
          <a:xfrm>
            <a:off x="6345936" y="2606040"/>
            <a:ext cx="2331720" cy="1920240"/>
          </a:xfrm>
          <a:prstGeom prst="rect">
            <a:avLst/>
          </a:prstGeom>
          <a:noFill/>
          <a:ln/>
        </p:spPr>
        <p:txBody>
          <a:bodyPr wrap="square" lIns="0" tIns="0" rIns="0" bIns="0" rtlCol="0" anchor="t"/>
          <a:lstStyle/>
          <a:p>
            <a:pPr marL="0" indent="0" algn="l">
              <a:buNone/>
            </a:pPr>
            <a:r>
              <a:rPr lang="en-US" sz="1050" dirty="0">
                <a:solidFill>
                  <a:srgbClr val="EDE0C4"/>
                </a:solidFill>
                <a:latin typeface="Cambria" pitchFamily="34" charset="0"/>
                <a:ea typeface="Cambria" pitchFamily="34" charset="-122"/>
                <a:cs typeface="Cambria" pitchFamily="34" charset="-120"/>
              </a:rPr>
              <a:t>The Archers Post Ranger Station plaque — funded by the African Wildlife Foundation — was the reference. Cast bronze on stone. A format with heritage, weight, and permanence. The language of conservation rather than hospitality. Federico's work sits squarely in that tradition.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208"/>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marL="0" indent="0" algn="l">
              <a:buNone/>
            </a:pPr>
            <a:r>
              <a:rPr lang="en-US" sz="900" kern="0" spc="500" dirty="0">
                <a:solidFill>
                  <a:srgbClr val="C4A265"/>
                </a:solidFill>
                <a:latin typeface="Cambria" pitchFamily="34" charset="0"/>
                <a:ea typeface="Cambria" pitchFamily="34" charset="-122"/>
                <a:cs typeface="Cambria" pitchFamily="34" charset="-120"/>
              </a:rPr>
              <a:t>02  /  COPY</a:t>
            </a:r>
            <a:endParaRPr lang="en-US" sz="900" dirty="0"/>
          </a:p>
        </p:txBody>
      </p:sp>
      <p:sp>
        <p:nvSpPr>
          <p:cNvPr id="3" name="Text 1"/>
          <p:cNvSpPr/>
          <p:nvPr/>
        </p:nvSpPr>
        <p:spPr>
          <a:xfrm>
            <a:off x="457200" y="685800"/>
            <a:ext cx="8229600" cy="594360"/>
          </a:xfrm>
          <a:prstGeom prst="rect">
            <a:avLst/>
          </a:prstGeom>
          <a:noFill/>
          <a:ln/>
        </p:spPr>
        <p:txBody>
          <a:bodyPr wrap="square" lIns="0" tIns="0" rIns="0" bIns="0" rtlCol="0" anchor="ctr"/>
          <a:lstStyle/>
          <a:p>
            <a:pPr marL="0" indent="0" algn="l">
              <a:buNone/>
            </a:pPr>
            <a:r>
              <a:rPr lang="en-US" sz="3400" b="1" dirty="0">
                <a:solidFill>
                  <a:srgbClr val="F5EDD8"/>
                </a:solidFill>
                <a:latin typeface="Cambria" pitchFamily="34" charset="0"/>
                <a:ea typeface="Cambria" pitchFamily="34" charset="-122"/>
                <a:cs typeface="Cambria" pitchFamily="34" charset="-120"/>
              </a:rPr>
              <a:t>The Inscription</a:t>
            </a:r>
            <a:endParaRPr lang="en-US" sz="3400" dirty="0"/>
          </a:p>
        </p:txBody>
      </p:sp>
      <p:sp>
        <p:nvSpPr>
          <p:cNvPr id="4" name="Shape 2"/>
          <p:cNvSpPr/>
          <p:nvPr/>
        </p:nvSpPr>
        <p:spPr>
          <a:xfrm>
            <a:off x="457200" y="1371600"/>
            <a:ext cx="8229600" cy="18288"/>
          </a:xfrm>
          <a:prstGeom prst="rect">
            <a:avLst/>
          </a:prstGeom>
          <a:solidFill>
            <a:srgbClr val="8B6914"/>
          </a:solidFill>
          <a:ln w="12700">
            <a:solidFill>
              <a:srgbClr val="8B6914"/>
            </a:solidFill>
            <a:prstDash val="solid"/>
          </a:ln>
        </p:spPr>
      </p:sp>
      <p:sp>
        <p:nvSpPr>
          <p:cNvPr id="5" name="Shape 3"/>
          <p:cNvSpPr/>
          <p:nvPr/>
        </p:nvSpPr>
        <p:spPr>
          <a:xfrm>
            <a:off x="457200" y="1508760"/>
            <a:ext cx="4023360" cy="3200400"/>
          </a:xfrm>
          <a:prstGeom prst="roundRect">
            <a:avLst>
              <a:gd name="adj" fmla="val 1714"/>
            </a:avLst>
          </a:prstGeom>
          <a:solidFill>
            <a:srgbClr val="2A1F0A"/>
          </a:solidFill>
          <a:ln w="19050">
            <a:solidFill>
              <a:srgbClr val="C4A265"/>
            </a:solidFill>
            <a:prstDash val="solid"/>
          </a:ln>
          <a:effectLst>
            <a:outerShdw blurRad="127000" dist="38100" dir="2700000" algn="bl" rotWithShape="0">
              <a:srgbClr val="000000">
                <a:alpha val="35000"/>
              </a:srgbClr>
            </a:outerShdw>
          </a:effectLst>
        </p:spPr>
      </p:sp>
      <p:sp>
        <p:nvSpPr>
          <p:cNvPr id="6" name="Text 4"/>
          <p:cNvSpPr/>
          <p:nvPr/>
        </p:nvSpPr>
        <p:spPr>
          <a:xfrm>
            <a:off x="640080" y="1783080"/>
            <a:ext cx="3657600" cy="274320"/>
          </a:xfrm>
          <a:prstGeom prst="rect">
            <a:avLst/>
          </a:prstGeom>
          <a:noFill/>
          <a:ln/>
        </p:spPr>
        <p:txBody>
          <a:bodyPr wrap="square" lIns="0" tIns="0" rIns="0" bIns="0" rtlCol="0" anchor="ctr"/>
          <a:lstStyle/>
          <a:p>
            <a:pPr marL="0" indent="0" algn="ctr">
              <a:buNone/>
            </a:pPr>
            <a:r>
              <a:rPr lang="en-US" sz="1700" b="1" kern="0" spc="200" dirty="0">
                <a:solidFill>
                  <a:srgbClr val="E8C97A"/>
                </a:solidFill>
                <a:latin typeface="Cambria" pitchFamily="34" charset="0"/>
                <a:ea typeface="Cambria" pitchFamily="34" charset="-122"/>
                <a:cs typeface="Cambria" pitchFamily="34" charset="-120"/>
              </a:rPr>
              <a:t>FEDERICO VERONESI</a:t>
            </a:r>
            <a:endParaRPr lang="en-US" sz="1700" dirty="0"/>
          </a:p>
        </p:txBody>
      </p:sp>
      <p:sp>
        <p:nvSpPr>
          <p:cNvPr id="7" name="Text 5"/>
          <p:cNvSpPr/>
          <p:nvPr/>
        </p:nvSpPr>
        <p:spPr>
          <a:xfrm>
            <a:off x="640080" y="2057400"/>
            <a:ext cx="3657600" cy="201168"/>
          </a:xfrm>
          <a:prstGeom prst="rect">
            <a:avLst/>
          </a:prstGeom>
          <a:noFill/>
          <a:ln/>
        </p:spPr>
        <p:txBody>
          <a:bodyPr wrap="square" lIns="0" tIns="0" rIns="0" bIns="0" rtlCol="0" anchor="ctr"/>
          <a:lstStyle/>
          <a:p>
            <a:pPr marL="0" indent="0" algn="ctr">
              <a:buNone/>
            </a:pPr>
            <a:r>
              <a:rPr lang="en-US" sz="850" kern="0" spc="100" dirty="0">
                <a:solidFill>
                  <a:srgbClr val="C4A265"/>
                </a:solidFill>
                <a:latin typeface="Cambria" pitchFamily="34" charset="0"/>
                <a:ea typeface="Cambria" pitchFamily="34" charset="-122"/>
                <a:cs typeface="Cambria" pitchFamily="34" charset="-120"/>
              </a:rPr>
              <a:t>WILDLIFE PHOTOGRAPHER &amp; CONSERVATIONIST</a:t>
            </a:r>
            <a:endParaRPr lang="en-US" sz="850" dirty="0"/>
          </a:p>
        </p:txBody>
      </p:sp>
      <p:sp>
        <p:nvSpPr>
          <p:cNvPr id="8" name="Text 6"/>
          <p:cNvSpPr/>
          <p:nvPr/>
        </p:nvSpPr>
        <p:spPr>
          <a:xfrm>
            <a:off x="640080" y="2258568"/>
            <a:ext cx="3657600" cy="109728"/>
          </a:xfrm>
          <a:prstGeom prst="rect">
            <a:avLst/>
          </a:prstGeom>
          <a:noFill/>
          <a:ln/>
        </p:spPr>
        <p:txBody>
          <a:bodyPr wrap="square" lIns="0" tIns="0" rIns="0" bIns="0" rtlCol="0" anchor="ctr"/>
          <a:lstStyle/>
          <a:p>
            <a:pPr marL="0" indent="0" algn="ctr">
              <a:buNone/>
            </a:pPr>
            <a:r>
              <a:rPr lang="en-US" sz="400" dirty="0">
                <a:solidFill>
                  <a:srgbClr val="C4A265"/>
                </a:solidFill>
                <a:latin typeface="Cambria" pitchFamily="34" charset="0"/>
                <a:ea typeface="Cambria" pitchFamily="34" charset="-122"/>
                <a:cs typeface="Cambria" pitchFamily="34" charset="-120"/>
              </a:rPr>
              <a:t> </a:t>
            </a:r>
            <a:endParaRPr lang="en-US" sz="400" dirty="0"/>
          </a:p>
        </p:txBody>
      </p:sp>
      <p:sp>
        <p:nvSpPr>
          <p:cNvPr id="9" name="Text 7"/>
          <p:cNvSpPr/>
          <p:nvPr/>
        </p:nvSpPr>
        <p:spPr>
          <a:xfrm>
            <a:off x="640080" y="2368296"/>
            <a:ext cx="3657600" cy="219456"/>
          </a:xfrm>
          <a:prstGeom prst="rect">
            <a:avLst/>
          </a:prstGeom>
          <a:noFill/>
          <a:ln/>
        </p:spPr>
        <p:txBody>
          <a:bodyPr wrap="square" lIns="0" tIns="0" rIns="0" bIns="0" rtlCol="0" anchor="ctr"/>
          <a:lstStyle/>
          <a:p>
            <a:pPr marL="0" indent="0" algn="ctr">
              <a:buNone/>
            </a:pPr>
            <a:r>
              <a:rPr lang="en-US" sz="950" kern="0" spc="100" dirty="0">
                <a:solidFill>
                  <a:srgbClr val="F5EDD8"/>
                </a:solidFill>
                <a:latin typeface="Cambria" pitchFamily="34" charset="0"/>
                <a:ea typeface="Cambria" pitchFamily="34" charset="-122"/>
                <a:cs typeface="Cambria" pitchFamily="34" charset="-120"/>
              </a:rPr>
              <a:t>MILAN BORN  ·  KENYA MADE</a:t>
            </a:r>
            <a:endParaRPr lang="en-US" sz="950" dirty="0"/>
          </a:p>
        </p:txBody>
      </p:sp>
      <p:sp>
        <p:nvSpPr>
          <p:cNvPr id="10" name="Text 8"/>
          <p:cNvSpPr/>
          <p:nvPr/>
        </p:nvSpPr>
        <p:spPr>
          <a:xfrm>
            <a:off x="640080" y="2587752"/>
            <a:ext cx="3657600" cy="201168"/>
          </a:xfrm>
          <a:prstGeom prst="rect">
            <a:avLst/>
          </a:prstGeom>
          <a:noFill/>
          <a:ln/>
        </p:spPr>
        <p:txBody>
          <a:bodyPr wrap="square" lIns="0" tIns="0" rIns="0" bIns="0" rtlCol="0" anchor="ctr"/>
          <a:lstStyle/>
          <a:p>
            <a:pPr marL="0" indent="0" algn="ctr">
              <a:buNone/>
            </a:pPr>
            <a:r>
              <a:rPr lang="en-US" sz="850" kern="0" spc="50" dirty="0">
                <a:solidFill>
                  <a:srgbClr val="F5EDD8"/>
                </a:solidFill>
                <a:latin typeface="Cambria" pitchFamily="34" charset="0"/>
                <a:ea typeface="Cambria" pitchFamily="34" charset="-122"/>
                <a:cs typeface="Cambria" pitchFamily="34" charset="-120"/>
              </a:rPr>
              <a:t>RESIDENT ARTIST, THE SOROI COLLECTION</a:t>
            </a:r>
            <a:endParaRPr lang="en-US" sz="850" dirty="0"/>
          </a:p>
        </p:txBody>
      </p:sp>
      <p:sp>
        <p:nvSpPr>
          <p:cNvPr id="11" name="Text 9"/>
          <p:cNvSpPr/>
          <p:nvPr/>
        </p:nvSpPr>
        <p:spPr>
          <a:xfrm>
            <a:off x="640080" y="2788920"/>
            <a:ext cx="3657600" cy="109728"/>
          </a:xfrm>
          <a:prstGeom prst="rect">
            <a:avLst/>
          </a:prstGeom>
          <a:noFill/>
          <a:ln/>
        </p:spPr>
        <p:txBody>
          <a:bodyPr wrap="square" lIns="0" tIns="0" rIns="0" bIns="0" rtlCol="0" anchor="ctr"/>
          <a:lstStyle/>
          <a:p>
            <a:pPr marL="0" indent="0" algn="ctr">
              <a:buNone/>
            </a:pPr>
            <a:r>
              <a:rPr lang="en-US" sz="400" dirty="0">
                <a:solidFill>
                  <a:srgbClr val="C4A265"/>
                </a:solidFill>
                <a:latin typeface="Cambria" pitchFamily="34" charset="0"/>
                <a:ea typeface="Cambria" pitchFamily="34" charset="-122"/>
                <a:cs typeface="Cambria" pitchFamily="34" charset="-120"/>
              </a:rPr>
              <a:t> </a:t>
            </a:r>
            <a:endParaRPr lang="en-US" sz="400" dirty="0"/>
          </a:p>
        </p:txBody>
      </p:sp>
      <p:sp>
        <p:nvSpPr>
          <p:cNvPr id="12" name="Text 10"/>
          <p:cNvSpPr/>
          <p:nvPr/>
        </p:nvSpPr>
        <p:spPr>
          <a:xfrm>
            <a:off x="640080" y="2898648"/>
            <a:ext cx="3657600" cy="219456"/>
          </a:xfrm>
          <a:prstGeom prst="rect">
            <a:avLst/>
          </a:prstGeom>
          <a:noFill/>
          <a:ln/>
        </p:spPr>
        <p:txBody>
          <a:bodyPr wrap="square" lIns="0" tIns="0" rIns="0" bIns="0" rtlCol="0" anchor="ctr"/>
          <a:lstStyle/>
          <a:p>
            <a:pPr marL="0" indent="0" algn="ctr">
              <a:buNone/>
            </a:pPr>
            <a:r>
              <a:rPr lang="en-US" sz="950" dirty="0">
                <a:solidFill>
                  <a:srgbClr val="EDE0C4"/>
                </a:solidFill>
                <a:latin typeface="Cambria" pitchFamily="34" charset="0"/>
                <a:ea typeface="Cambria" pitchFamily="34" charset="-122"/>
                <a:cs typeface="Cambria" pitchFamily="34" charset="-120"/>
              </a:rPr>
              <a:t>THROUGH HIS LENS,</a:t>
            </a:r>
            <a:endParaRPr lang="en-US" sz="950" dirty="0"/>
          </a:p>
        </p:txBody>
      </p:sp>
      <p:sp>
        <p:nvSpPr>
          <p:cNvPr id="13" name="Text 11"/>
          <p:cNvSpPr/>
          <p:nvPr/>
        </p:nvSpPr>
        <p:spPr>
          <a:xfrm>
            <a:off x="640080" y="3118104"/>
            <a:ext cx="3657600" cy="219456"/>
          </a:xfrm>
          <a:prstGeom prst="rect">
            <a:avLst/>
          </a:prstGeom>
          <a:noFill/>
          <a:ln/>
        </p:spPr>
        <p:txBody>
          <a:bodyPr wrap="square" lIns="0" tIns="0" rIns="0" bIns="0" rtlCol="0" anchor="ctr"/>
          <a:lstStyle/>
          <a:p>
            <a:pPr marL="0" indent="0" algn="ctr">
              <a:buNone/>
            </a:pPr>
            <a:r>
              <a:rPr lang="en-US" sz="950" dirty="0">
                <a:solidFill>
                  <a:srgbClr val="EDE0C4"/>
                </a:solidFill>
                <a:latin typeface="Cambria" pitchFamily="34" charset="0"/>
                <a:ea typeface="Cambria" pitchFamily="34" charset="-122"/>
                <a:cs typeface="Cambria" pitchFamily="34" charset="-120"/>
              </a:rPr>
              <a:t>THESE ANIMALS LIVE FOREVER</a:t>
            </a:r>
            <a:endParaRPr lang="en-US" sz="950" dirty="0"/>
          </a:p>
        </p:txBody>
      </p:sp>
      <p:sp>
        <p:nvSpPr>
          <p:cNvPr id="14" name="Text 12"/>
          <p:cNvSpPr/>
          <p:nvPr/>
        </p:nvSpPr>
        <p:spPr>
          <a:xfrm>
            <a:off x="4754880" y="1508760"/>
            <a:ext cx="4206240" cy="246888"/>
          </a:xfrm>
          <a:prstGeom prst="rect">
            <a:avLst/>
          </a:prstGeom>
          <a:noFill/>
          <a:ln/>
        </p:spPr>
        <p:txBody>
          <a:bodyPr wrap="square" lIns="0" tIns="0" rIns="0" bIns="0" rtlCol="0" anchor="ctr"/>
          <a:lstStyle/>
          <a:p>
            <a:pPr marL="0" indent="0" algn="l">
              <a:buNone/>
            </a:pPr>
            <a:r>
              <a:rPr lang="en-US" sz="900" b="1" kern="0" spc="100" dirty="0">
                <a:solidFill>
                  <a:srgbClr val="C4A265"/>
                </a:solidFill>
                <a:latin typeface="Cambria" pitchFamily="34" charset="0"/>
                <a:ea typeface="Cambria" pitchFamily="34" charset="-122"/>
                <a:cs typeface="Cambria" pitchFamily="34" charset="-120"/>
              </a:rPr>
              <a:t>FEDERICO VERONESI</a:t>
            </a:r>
            <a:endParaRPr lang="en-US" sz="900" dirty="0"/>
          </a:p>
        </p:txBody>
      </p:sp>
      <p:sp>
        <p:nvSpPr>
          <p:cNvPr id="15" name="Text 13"/>
          <p:cNvSpPr/>
          <p:nvPr/>
        </p:nvSpPr>
        <p:spPr>
          <a:xfrm>
            <a:off x="4754880" y="1755648"/>
            <a:ext cx="4206240" cy="384048"/>
          </a:xfrm>
          <a:prstGeom prst="rect">
            <a:avLst/>
          </a:prstGeom>
          <a:noFill/>
          <a:ln/>
        </p:spPr>
        <p:txBody>
          <a:bodyPr wrap="square" lIns="0" tIns="0" rIns="0" bIns="0" rtlCol="0" anchor="ctr"/>
          <a:lstStyle/>
          <a:p>
            <a:pPr marL="0" indent="0" algn="l">
              <a:buNone/>
            </a:pPr>
            <a:r>
              <a:rPr lang="en-US" sz="1000" dirty="0">
                <a:solidFill>
                  <a:srgbClr val="EDE0C4"/>
                </a:solidFill>
                <a:latin typeface="Cambria" pitchFamily="34" charset="0"/>
                <a:ea typeface="Cambria" pitchFamily="34" charset="-122"/>
                <a:cs typeface="Cambria" pitchFamily="34" charset="-120"/>
              </a:rPr>
              <a:t>Full name leads, set largest. His name is already recognised in wildlife photography circles globally. No title precedes it.</a:t>
            </a:r>
            <a:endParaRPr lang="en-US" sz="1000" dirty="0"/>
          </a:p>
        </p:txBody>
      </p:sp>
      <p:sp>
        <p:nvSpPr>
          <p:cNvPr id="16" name="Shape 14"/>
          <p:cNvSpPr/>
          <p:nvPr/>
        </p:nvSpPr>
        <p:spPr>
          <a:xfrm>
            <a:off x="4754880" y="2176272"/>
            <a:ext cx="4206240" cy="10973"/>
          </a:xfrm>
          <a:prstGeom prst="rect">
            <a:avLst/>
          </a:prstGeom>
          <a:solidFill>
            <a:srgbClr val="3D2B0F"/>
          </a:solidFill>
          <a:ln w="12700">
            <a:solidFill>
              <a:srgbClr val="3D2B0F"/>
            </a:solidFill>
            <a:prstDash val="solid"/>
          </a:ln>
        </p:spPr>
      </p:sp>
      <p:sp>
        <p:nvSpPr>
          <p:cNvPr id="17" name="Text 15"/>
          <p:cNvSpPr/>
          <p:nvPr/>
        </p:nvSpPr>
        <p:spPr>
          <a:xfrm>
            <a:off x="4754880" y="2258568"/>
            <a:ext cx="4206240" cy="246888"/>
          </a:xfrm>
          <a:prstGeom prst="rect">
            <a:avLst/>
          </a:prstGeom>
          <a:noFill/>
          <a:ln/>
        </p:spPr>
        <p:txBody>
          <a:bodyPr wrap="square" lIns="0" tIns="0" rIns="0" bIns="0" rtlCol="0" anchor="ctr"/>
          <a:lstStyle/>
          <a:p>
            <a:pPr marL="0" indent="0" algn="l">
              <a:buNone/>
            </a:pPr>
            <a:r>
              <a:rPr lang="en-US" sz="900" b="1" kern="0" spc="100" dirty="0">
                <a:solidFill>
                  <a:srgbClr val="C4A265"/>
                </a:solidFill>
                <a:latin typeface="Cambria" pitchFamily="34" charset="0"/>
                <a:ea typeface="Cambria" pitchFamily="34" charset="-122"/>
                <a:cs typeface="Cambria" pitchFamily="34" charset="-120"/>
              </a:rPr>
              <a:t>WILDLIFE PHOTOGRAPHER &amp; CONSERVATIONIST</a:t>
            </a:r>
            <a:endParaRPr lang="en-US" sz="900" dirty="0"/>
          </a:p>
        </p:txBody>
      </p:sp>
      <p:sp>
        <p:nvSpPr>
          <p:cNvPr id="18" name="Text 16"/>
          <p:cNvSpPr/>
          <p:nvPr/>
        </p:nvSpPr>
        <p:spPr>
          <a:xfrm>
            <a:off x="4754880" y="2505456"/>
            <a:ext cx="4206240" cy="384048"/>
          </a:xfrm>
          <a:prstGeom prst="rect">
            <a:avLst/>
          </a:prstGeom>
          <a:noFill/>
          <a:ln/>
        </p:spPr>
        <p:txBody>
          <a:bodyPr wrap="square" lIns="0" tIns="0" rIns="0" bIns="0" rtlCol="0" anchor="ctr"/>
          <a:lstStyle/>
          <a:p>
            <a:pPr marL="0" indent="0" algn="l">
              <a:buNone/>
            </a:pPr>
            <a:r>
              <a:rPr lang="en-US" sz="1000" dirty="0">
                <a:solidFill>
                  <a:srgbClr val="EDE0C4"/>
                </a:solidFill>
                <a:latin typeface="Cambria" pitchFamily="34" charset="0"/>
                <a:ea typeface="Cambria" pitchFamily="34" charset="-122"/>
                <a:cs typeface="Cambria" pitchFamily="34" charset="-120"/>
              </a:rPr>
              <a:t>Double descriptor. Photography is the craft; conservation is the purpose. Both are true and both matter here.</a:t>
            </a:r>
            <a:endParaRPr lang="en-US" sz="1000" dirty="0"/>
          </a:p>
        </p:txBody>
      </p:sp>
      <p:sp>
        <p:nvSpPr>
          <p:cNvPr id="19" name="Shape 17"/>
          <p:cNvSpPr/>
          <p:nvPr/>
        </p:nvSpPr>
        <p:spPr>
          <a:xfrm>
            <a:off x="4754880" y="2926080"/>
            <a:ext cx="4206240" cy="10973"/>
          </a:xfrm>
          <a:prstGeom prst="rect">
            <a:avLst/>
          </a:prstGeom>
          <a:solidFill>
            <a:srgbClr val="3D2B0F"/>
          </a:solidFill>
          <a:ln w="12700">
            <a:solidFill>
              <a:srgbClr val="3D2B0F"/>
            </a:solidFill>
            <a:prstDash val="solid"/>
          </a:ln>
        </p:spPr>
      </p:sp>
      <p:sp>
        <p:nvSpPr>
          <p:cNvPr id="20" name="Text 18"/>
          <p:cNvSpPr/>
          <p:nvPr/>
        </p:nvSpPr>
        <p:spPr>
          <a:xfrm>
            <a:off x="4754880" y="3008376"/>
            <a:ext cx="4206240" cy="246888"/>
          </a:xfrm>
          <a:prstGeom prst="rect">
            <a:avLst/>
          </a:prstGeom>
          <a:noFill/>
          <a:ln/>
        </p:spPr>
        <p:txBody>
          <a:bodyPr wrap="square" lIns="0" tIns="0" rIns="0" bIns="0" rtlCol="0" anchor="ctr"/>
          <a:lstStyle/>
          <a:p>
            <a:pPr marL="0" indent="0" algn="l">
              <a:buNone/>
            </a:pPr>
            <a:r>
              <a:rPr lang="en-US" sz="900" b="1" kern="0" spc="100" dirty="0">
                <a:solidFill>
                  <a:srgbClr val="C4A265"/>
                </a:solidFill>
                <a:latin typeface="Cambria" pitchFamily="34" charset="0"/>
                <a:ea typeface="Cambria" pitchFamily="34" charset="-122"/>
                <a:cs typeface="Cambria" pitchFamily="34" charset="-120"/>
              </a:rPr>
              <a:t>MILAN BORN · KENYA MADE</a:t>
            </a:r>
            <a:endParaRPr lang="en-US" sz="900" dirty="0"/>
          </a:p>
        </p:txBody>
      </p:sp>
      <p:sp>
        <p:nvSpPr>
          <p:cNvPr id="21" name="Text 19"/>
          <p:cNvSpPr/>
          <p:nvPr/>
        </p:nvSpPr>
        <p:spPr>
          <a:xfrm>
            <a:off x="4754880" y="3255264"/>
            <a:ext cx="4206240" cy="384048"/>
          </a:xfrm>
          <a:prstGeom prst="rect">
            <a:avLst/>
          </a:prstGeom>
          <a:noFill/>
          <a:ln/>
        </p:spPr>
        <p:txBody>
          <a:bodyPr wrap="square" lIns="0" tIns="0" rIns="0" bIns="0" rtlCol="0" anchor="ctr"/>
          <a:lstStyle/>
          <a:p>
            <a:pPr marL="0" indent="0" algn="l">
              <a:buNone/>
            </a:pPr>
            <a:r>
              <a:rPr lang="en-US" sz="1000" dirty="0">
                <a:solidFill>
                  <a:srgbClr val="EDE0C4"/>
                </a:solidFill>
                <a:latin typeface="Cambria" pitchFamily="34" charset="0"/>
                <a:ea typeface="Cambria" pitchFamily="34" charset="-122"/>
                <a:cs typeface="Cambria" pitchFamily="34" charset="-120"/>
              </a:rPr>
              <a:t>The biographical anchor. Captures the journey — the Italian who chose Africa — in five words. The dot is a traditional separator used on heritage plaques.</a:t>
            </a:r>
            <a:endParaRPr lang="en-US" sz="1000" dirty="0"/>
          </a:p>
        </p:txBody>
      </p:sp>
      <p:sp>
        <p:nvSpPr>
          <p:cNvPr id="22" name="Shape 20"/>
          <p:cNvSpPr/>
          <p:nvPr/>
        </p:nvSpPr>
        <p:spPr>
          <a:xfrm>
            <a:off x="4754880" y="3675888"/>
            <a:ext cx="4206240" cy="10973"/>
          </a:xfrm>
          <a:prstGeom prst="rect">
            <a:avLst/>
          </a:prstGeom>
          <a:solidFill>
            <a:srgbClr val="3D2B0F"/>
          </a:solidFill>
          <a:ln w="12700">
            <a:solidFill>
              <a:srgbClr val="3D2B0F"/>
            </a:solidFill>
            <a:prstDash val="solid"/>
          </a:ln>
        </p:spPr>
      </p:sp>
      <p:sp>
        <p:nvSpPr>
          <p:cNvPr id="23" name="Text 21"/>
          <p:cNvSpPr/>
          <p:nvPr/>
        </p:nvSpPr>
        <p:spPr>
          <a:xfrm>
            <a:off x="4754880" y="3758184"/>
            <a:ext cx="4206240" cy="246888"/>
          </a:xfrm>
          <a:prstGeom prst="rect">
            <a:avLst/>
          </a:prstGeom>
          <a:noFill/>
          <a:ln/>
        </p:spPr>
        <p:txBody>
          <a:bodyPr wrap="square" lIns="0" tIns="0" rIns="0" bIns="0" rtlCol="0" anchor="ctr"/>
          <a:lstStyle/>
          <a:p>
            <a:pPr marL="0" indent="0" algn="l">
              <a:buNone/>
            </a:pPr>
            <a:r>
              <a:rPr lang="en-US" sz="900" b="1" kern="0" spc="100" dirty="0">
                <a:solidFill>
                  <a:srgbClr val="C4A265"/>
                </a:solidFill>
                <a:latin typeface="Cambria" pitchFamily="34" charset="0"/>
                <a:ea typeface="Cambria" pitchFamily="34" charset="-122"/>
                <a:cs typeface="Cambria" pitchFamily="34" charset="-120"/>
              </a:rPr>
              <a:t>RESIDENT ARTIST, THE SOROI COLLECTION</a:t>
            </a:r>
            <a:endParaRPr lang="en-US" sz="900" dirty="0"/>
          </a:p>
        </p:txBody>
      </p:sp>
      <p:sp>
        <p:nvSpPr>
          <p:cNvPr id="24" name="Text 22"/>
          <p:cNvSpPr/>
          <p:nvPr/>
        </p:nvSpPr>
        <p:spPr>
          <a:xfrm>
            <a:off x="4754880" y="4005072"/>
            <a:ext cx="4206240" cy="384048"/>
          </a:xfrm>
          <a:prstGeom prst="rect">
            <a:avLst/>
          </a:prstGeom>
          <a:noFill/>
          <a:ln/>
        </p:spPr>
        <p:txBody>
          <a:bodyPr wrap="square" lIns="0" tIns="0" rIns="0" bIns="0" rtlCol="0" anchor="ctr"/>
          <a:lstStyle/>
          <a:p>
            <a:pPr marL="0" indent="0" algn="l">
              <a:buNone/>
            </a:pPr>
            <a:r>
              <a:rPr lang="en-US" sz="1000" dirty="0">
                <a:solidFill>
                  <a:srgbClr val="EDE0C4"/>
                </a:solidFill>
                <a:latin typeface="Cambria" pitchFamily="34" charset="0"/>
                <a:ea typeface="Cambria" pitchFamily="34" charset="-122"/>
                <a:cs typeface="Cambria" pitchFamily="34" charset="-120"/>
              </a:rPr>
              <a:t>Formalises the relationship. Gives the plaque institutional weight and connects it directly to the property.</a:t>
            </a:r>
            <a:endParaRPr lang="en-US" sz="1000" dirty="0"/>
          </a:p>
        </p:txBody>
      </p:sp>
      <p:sp>
        <p:nvSpPr>
          <p:cNvPr id="25" name="Shape 23"/>
          <p:cNvSpPr/>
          <p:nvPr/>
        </p:nvSpPr>
        <p:spPr>
          <a:xfrm>
            <a:off x="4754880" y="4425696"/>
            <a:ext cx="4206240" cy="10973"/>
          </a:xfrm>
          <a:prstGeom prst="rect">
            <a:avLst/>
          </a:prstGeom>
          <a:solidFill>
            <a:srgbClr val="3D2B0F"/>
          </a:solidFill>
          <a:ln w="12700">
            <a:solidFill>
              <a:srgbClr val="3D2B0F"/>
            </a:solidFill>
            <a:prstDash val="solid"/>
          </a:ln>
        </p:spPr>
      </p:sp>
      <p:sp>
        <p:nvSpPr>
          <p:cNvPr id="26" name="Text 24"/>
          <p:cNvSpPr/>
          <p:nvPr/>
        </p:nvSpPr>
        <p:spPr>
          <a:xfrm>
            <a:off x="4754880" y="4507992"/>
            <a:ext cx="4206240" cy="246888"/>
          </a:xfrm>
          <a:prstGeom prst="rect">
            <a:avLst/>
          </a:prstGeom>
          <a:noFill/>
          <a:ln/>
        </p:spPr>
        <p:txBody>
          <a:bodyPr wrap="square" lIns="0" tIns="0" rIns="0" bIns="0" rtlCol="0" anchor="ctr"/>
          <a:lstStyle/>
          <a:p>
            <a:pPr marL="0" indent="0" algn="l">
              <a:buNone/>
            </a:pPr>
            <a:r>
              <a:rPr lang="en-US" sz="900" b="1" kern="0" spc="100" dirty="0">
                <a:solidFill>
                  <a:srgbClr val="C4A265"/>
                </a:solidFill>
                <a:latin typeface="Cambria" pitchFamily="34" charset="0"/>
                <a:ea typeface="Cambria" pitchFamily="34" charset="-122"/>
                <a:cs typeface="Cambria" pitchFamily="34" charset="-120"/>
              </a:rPr>
              <a:t>THROUGH HIS LENS, THESE ANIMALS LIVE FOREVER</a:t>
            </a:r>
            <a:endParaRPr lang="en-US" sz="900" dirty="0"/>
          </a:p>
        </p:txBody>
      </p:sp>
      <p:sp>
        <p:nvSpPr>
          <p:cNvPr id="27" name="Text 25"/>
          <p:cNvSpPr/>
          <p:nvPr/>
        </p:nvSpPr>
        <p:spPr>
          <a:xfrm>
            <a:off x="4754880" y="4754880"/>
            <a:ext cx="4206240" cy="384048"/>
          </a:xfrm>
          <a:prstGeom prst="rect">
            <a:avLst/>
          </a:prstGeom>
          <a:noFill/>
          <a:ln/>
        </p:spPr>
        <p:txBody>
          <a:bodyPr wrap="square" lIns="0" tIns="0" rIns="0" bIns="0" rtlCol="0" anchor="ctr"/>
          <a:lstStyle/>
          <a:p>
            <a:pPr marL="0" indent="0" algn="l">
              <a:buNone/>
            </a:pPr>
            <a:r>
              <a:rPr lang="en-US" sz="1000" dirty="0">
                <a:solidFill>
                  <a:srgbClr val="EDE0C4"/>
                </a:solidFill>
                <a:latin typeface="Cambria" pitchFamily="34" charset="0"/>
                <a:ea typeface="Cambria" pitchFamily="34" charset="-122"/>
                <a:cs typeface="Cambria" pitchFamily="34" charset="-120"/>
              </a:rPr>
              <a:t>The closing epitaph. Present tense. Speaks to the permanence of his imagery and its conservation value.</a:t>
            </a:r>
            <a:endParaRPr lang="en-US" sz="1000" dirty="0"/>
          </a:p>
        </p:txBody>
      </p:sp>
      <p:sp>
        <p:nvSpPr>
          <p:cNvPr id="28" name="Shape 26"/>
          <p:cNvSpPr/>
          <p:nvPr/>
        </p:nvSpPr>
        <p:spPr>
          <a:xfrm>
            <a:off x="4754880" y="5175504"/>
            <a:ext cx="4206240" cy="10973"/>
          </a:xfrm>
          <a:prstGeom prst="rect">
            <a:avLst/>
          </a:prstGeom>
          <a:solidFill>
            <a:srgbClr val="3D2B0F"/>
          </a:solidFill>
          <a:ln w="12700">
            <a:solidFill>
              <a:srgbClr val="3D2B0F"/>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208"/>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marL="0" indent="0" algn="l">
              <a:buNone/>
            </a:pPr>
            <a:r>
              <a:rPr lang="en-US" sz="900" kern="0" spc="500" dirty="0">
                <a:solidFill>
                  <a:srgbClr val="C4A265"/>
                </a:solidFill>
                <a:latin typeface="Cambria" pitchFamily="34" charset="0"/>
                <a:ea typeface="Cambria" pitchFamily="34" charset="-122"/>
                <a:cs typeface="Cambria" pitchFamily="34" charset="-120"/>
              </a:rPr>
              <a:t>03  /  ARTWORK</a:t>
            </a:r>
            <a:endParaRPr lang="en-US" sz="900" dirty="0"/>
          </a:p>
        </p:txBody>
      </p:sp>
      <p:sp>
        <p:nvSpPr>
          <p:cNvPr id="3" name="Text 1"/>
          <p:cNvSpPr/>
          <p:nvPr/>
        </p:nvSpPr>
        <p:spPr>
          <a:xfrm>
            <a:off x="457200" y="685800"/>
            <a:ext cx="8229600" cy="594360"/>
          </a:xfrm>
          <a:prstGeom prst="rect">
            <a:avLst/>
          </a:prstGeom>
          <a:noFill/>
          <a:ln/>
        </p:spPr>
        <p:txBody>
          <a:bodyPr wrap="square" lIns="0" tIns="0" rIns="0" bIns="0" rtlCol="0" anchor="ctr"/>
          <a:lstStyle/>
          <a:p>
            <a:pPr marL="0" indent="0" algn="l">
              <a:buNone/>
            </a:pPr>
            <a:r>
              <a:rPr lang="en-US" sz="3400" b="1" dirty="0">
                <a:solidFill>
                  <a:srgbClr val="F5EDD8"/>
                </a:solidFill>
                <a:latin typeface="Cambria" pitchFamily="34" charset="0"/>
                <a:ea typeface="Cambria" pitchFamily="34" charset="-122"/>
                <a:cs typeface="Cambria" pitchFamily="34" charset="-120"/>
              </a:rPr>
              <a:t>The Relief Artwork</a:t>
            </a:r>
            <a:endParaRPr lang="en-US" sz="3400" dirty="0"/>
          </a:p>
        </p:txBody>
      </p:sp>
      <p:sp>
        <p:nvSpPr>
          <p:cNvPr id="4" name="Shape 2"/>
          <p:cNvSpPr/>
          <p:nvPr/>
        </p:nvSpPr>
        <p:spPr>
          <a:xfrm>
            <a:off x="457200" y="1371600"/>
            <a:ext cx="8229600" cy="18288"/>
          </a:xfrm>
          <a:prstGeom prst="rect">
            <a:avLst/>
          </a:prstGeom>
          <a:solidFill>
            <a:srgbClr val="8B6914"/>
          </a:solidFill>
          <a:ln w="12700">
            <a:solidFill>
              <a:srgbClr val="8B6914"/>
            </a:solidFill>
            <a:prstDash val="solid"/>
          </a:ln>
        </p:spPr>
      </p:sp>
      <p:pic>
        <p:nvPicPr>
          <p:cNvPr id="5" name="Image 0" descr="/home/claude/plaque_studio.png"/>
          <p:cNvPicPr>
            <a:picLocks noChangeAspect="1"/>
          </p:cNvPicPr>
          <p:nvPr/>
        </p:nvPicPr>
        <p:blipFill>
          <a:blip r:embed="rId3"/>
          <a:srcRect/>
          <a:stretch/>
        </p:blipFill>
        <p:spPr>
          <a:xfrm>
            <a:off x="457200" y="1597540"/>
            <a:ext cx="4389120" cy="3035009"/>
          </a:xfrm>
          <a:prstGeom prst="rect">
            <a:avLst/>
          </a:prstGeom>
        </p:spPr>
      </p:pic>
      <p:sp>
        <p:nvSpPr>
          <p:cNvPr id="6" name="Text 3"/>
          <p:cNvSpPr/>
          <p:nvPr/>
        </p:nvSpPr>
        <p:spPr>
          <a:xfrm>
            <a:off x="5029200" y="1554480"/>
            <a:ext cx="457200" cy="274320"/>
          </a:xfrm>
          <a:prstGeom prst="rect">
            <a:avLst/>
          </a:prstGeom>
          <a:noFill/>
          <a:ln/>
        </p:spPr>
        <p:txBody>
          <a:bodyPr wrap="square" lIns="0" tIns="0" rIns="0" bIns="0" rtlCol="0" anchor="ctr"/>
          <a:lstStyle/>
          <a:p>
            <a:pPr marL="0" indent="0" algn="l">
              <a:buNone/>
            </a:pPr>
            <a:r>
              <a:rPr lang="en-US" sz="1100" b="1" dirty="0">
                <a:solidFill>
                  <a:srgbClr val="C4A265"/>
                </a:solidFill>
                <a:latin typeface="Cambria" pitchFamily="34" charset="0"/>
                <a:ea typeface="Cambria" pitchFamily="34" charset="-122"/>
                <a:cs typeface="Cambria" pitchFamily="34" charset="-120"/>
              </a:rPr>
              <a:t>01</a:t>
            </a:r>
            <a:endParaRPr lang="en-US" sz="1100" dirty="0"/>
          </a:p>
        </p:txBody>
      </p:sp>
      <p:sp>
        <p:nvSpPr>
          <p:cNvPr id="7" name="Text 4"/>
          <p:cNvSpPr/>
          <p:nvPr/>
        </p:nvSpPr>
        <p:spPr>
          <a:xfrm>
            <a:off x="5532120" y="1554480"/>
            <a:ext cx="3383280" cy="274320"/>
          </a:xfrm>
          <a:prstGeom prst="rect">
            <a:avLst/>
          </a:prstGeom>
          <a:noFill/>
          <a:ln/>
        </p:spPr>
        <p:txBody>
          <a:bodyPr wrap="square" lIns="0" tIns="0" rIns="0" bIns="0" rtlCol="0" anchor="ctr"/>
          <a:lstStyle/>
          <a:p>
            <a:pPr marL="0" indent="0" algn="l">
              <a:buNone/>
            </a:pPr>
            <a:r>
              <a:rPr lang="en-US" sz="1100" b="1" dirty="0">
                <a:solidFill>
                  <a:srgbClr val="E8C97A"/>
                </a:solidFill>
                <a:latin typeface="Cambria" pitchFamily="34" charset="0"/>
                <a:ea typeface="Cambria" pitchFamily="34" charset="-122"/>
                <a:cs typeface="Cambria" pitchFamily="34" charset="-120"/>
              </a:rPr>
              <a:t>Subject: Tim the Tusker</a:t>
            </a:r>
            <a:endParaRPr lang="en-US" sz="1100" dirty="0"/>
          </a:p>
        </p:txBody>
      </p:sp>
      <p:sp>
        <p:nvSpPr>
          <p:cNvPr id="8" name="Text 5"/>
          <p:cNvSpPr/>
          <p:nvPr/>
        </p:nvSpPr>
        <p:spPr>
          <a:xfrm>
            <a:off x="5532120" y="1847088"/>
            <a:ext cx="3383280" cy="438912"/>
          </a:xfrm>
          <a:prstGeom prst="rect">
            <a:avLst/>
          </a:prstGeom>
          <a:noFill/>
          <a:ln/>
        </p:spPr>
        <p:txBody>
          <a:bodyPr wrap="square" lIns="0" tIns="0" rIns="0" bIns="0" rtlCol="0" anchor="t"/>
          <a:lstStyle/>
          <a:p>
            <a:pPr marL="0" indent="0" algn="l">
              <a:buNone/>
            </a:pPr>
            <a:r>
              <a:rPr lang="en-US" sz="950" dirty="0">
                <a:solidFill>
                  <a:srgbClr val="EDE0C4"/>
                </a:solidFill>
                <a:latin typeface="Cambria" pitchFamily="34" charset="0"/>
                <a:ea typeface="Cambria" pitchFamily="34" charset="-122"/>
                <a:cs typeface="Cambria" pitchFamily="34" charset="-120"/>
              </a:rPr>
              <a:t>A lone bull elephant with long curved tusks, walking in profile left to right. Directly references Federico's most famous Amboseli subject. Immediately recognisable to anyone familiar with the landscape.</a:t>
            </a:r>
            <a:endParaRPr lang="en-US" sz="950" dirty="0"/>
          </a:p>
        </p:txBody>
      </p:sp>
      <p:sp>
        <p:nvSpPr>
          <p:cNvPr id="9" name="Text 6"/>
          <p:cNvSpPr/>
          <p:nvPr/>
        </p:nvSpPr>
        <p:spPr>
          <a:xfrm>
            <a:off x="5029200" y="2359152"/>
            <a:ext cx="457200" cy="274320"/>
          </a:xfrm>
          <a:prstGeom prst="rect">
            <a:avLst/>
          </a:prstGeom>
          <a:noFill/>
          <a:ln/>
        </p:spPr>
        <p:txBody>
          <a:bodyPr wrap="square" lIns="0" tIns="0" rIns="0" bIns="0" rtlCol="0" anchor="ctr"/>
          <a:lstStyle/>
          <a:p>
            <a:pPr marL="0" indent="0" algn="l">
              <a:buNone/>
            </a:pPr>
            <a:r>
              <a:rPr lang="en-US" sz="1100" b="1" dirty="0">
                <a:solidFill>
                  <a:srgbClr val="C4A265"/>
                </a:solidFill>
                <a:latin typeface="Cambria" pitchFamily="34" charset="0"/>
                <a:ea typeface="Cambria" pitchFamily="34" charset="-122"/>
                <a:cs typeface="Cambria" pitchFamily="34" charset="-120"/>
              </a:rPr>
              <a:t>02</a:t>
            </a:r>
            <a:endParaRPr lang="en-US" sz="1100" dirty="0"/>
          </a:p>
        </p:txBody>
      </p:sp>
      <p:sp>
        <p:nvSpPr>
          <p:cNvPr id="10" name="Text 7"/>
          <p:cNvSpPr/>
          <p:nvPr/>
        </p:nvSpPr>
        <p:spPr>
          <a:xfrm>
            <a:off x="5532120" y="2359152"/>
            <a:ext cx="3383280" cy="274320"/>
          </a:xfrm>
          <a:prstGeom prst="rect">
            <a:avLst/>
          </a:prstGeom>
          <a:noFill/>
          <a:ln/>
        </p:spPr>
        <p:txBody>
          <a:bodyPr wrap="square" lIns="0" tIns="0" rIns="0" bIns="0" rtlCol="0" anchor="ctr"/>
          <a:lstStyle/>
          <a:p>
            <a:pPr marL="0" indent="0" algn="l">
              <a:buNone/>
            </a:pPr>
            <a:r>
              <a:rPr lang="en-US" sz="1100" b="1" dirty="0">
                <a:solidFill>
                  <a:srgbClr val="E8C97A"/>
                </a:solidFill>
                <a:latin typeface="Cambria" pitchFamily="34" charset="0"/>
                <a:ea typeface="Cambria" pitchFamily="34" charset="-122"/>
                <a:cs typeface="Cambria" pitchFamily="34" charset="-120"/>
              </a:rPr>
              <a:t>Backdrop: Kilimanjaro</a:t>
            </a:r>
            <a:endParaRPr lang="en-US" sz="1100" dirty="0"/>
          </a:p>
        </p:txBody>
      </p:sp>
      <p:sp>
        <p:nvSpPr>
          <p:cNvPr id="11" name="Text 8"/>
          <p:cNvSpPr/>
          <p:nvPr/>
        </p:nvSpPr>
        <p:spPr>
          <a:xfrm>
            <a:off x="5532120" y="2651760"/>
            <a:ext cx="3383280" cy="438912"/>
          </a:xfrm>
          <a:prstGeom prst="rect">
            <a:avLst/>
          </a:prstGeom>
          <a:noFill/>
          <a:ln/>
        </p:spPr>
        <p:txBody>
          <a:bodyPr wrap="square" lIns="0" tIns="0" rIns="0" bIns="0" rtlCol="0" anchor="t"/>
          <a:lstStyle/>
          <a:p>
            <a:pPr marL="0" indent="0" algn="l">
              <a:buNone/>
            </a:pPr>
            <a:r>
              <a:rPr lang="en-US" sz="950" dirty="0">
                <a:solidFill>
                  <a:srgbClr val="EDE0C4"/>
                </a:solidFill>
                <a:latin typeface="Cambria" pitchFamily="34" charset="0"/>
                <a:ea typeface="Cambria" pitchFamily="34" charset="-122"/>
                <a:cs typeface="Cambria" pitchFamily="34" charset="-120"/>
              </a:rPr>
              <a:t>The unmistakable flat-topped silhouette of Kilimanjaro rises behind the elephant. Africa's highest peak is both Federico's backdrop and the defining visual of Soroi Amboseli.</a:t>
            </a:r>
            <a:endParaRPr lang="en-US" sz="950" dirty="0"/>
          </a:p>
        </p:txBody>
      </p:sp>
      <p:sp>
        <p:nvSpPr>
          <p:cNvPr id="12" name="Text 9"/>
          <p:cNvSpPr/>
          <p:nvPr/>
        </p:nvSpPr>
        <p:spPr>
          <a:xfrm>
            <a:off x="5029200" y="3163824"/>
            <a:ext cx="457200" cy="274320"/>
          </a:xfrm>
          <a:prstGeom prst="rect">
            <a:avLst/>
          </a:prstGeom>
          <a:noFill/>
          <a:ln/>
        </p:spPr>
        <p:txBody>
          <a:bodyPr wrap="square" lIns="0" tIns="0" rIns="0" bIns="0" rtlCol="0" anchor="ctr"/>
          <a:lstStyle/>
          <a:p>
            <a:pPr marL="0" indent="0" algn="l">
              <a:buNone/>
            </a:pPr>
            <a:r>
              <a:rPr lang="en-US" sz="1100" b="1" dirty="0">
                <a:solidFill>
                  <a:srgbClr val="C4A265"/>
                </a:solidFill>
                <a:latin typeface="Cambria" pitchFamily="34" charset="0"/>
                <a:ea typeface="Cambria" pitchFamily="34" charset="-122"/>
                <a:cs typeface="Cambria" pitchFamily="34" charset="-120"/>
              </a:rPr>
              <a:t>03</a:t>
            </a:r>
            <a:endParaRPr lang="en-US" sz="1100" dirty="0"/>
          </a:p>
        </p:txBody>
      </p:sp>
      <p:sp>
        <p:nvSpPr>
          <p:cNvPr id="13" name="Text 10"/>
          <p:cNvSpPr/>
          <p:nvPr/>
        </p:nvSpPr>
        <p:spPr>
          <a:xfrm>
            <a:off x="5532120" y="3163824"/>
            <a:ext cx="3383280" cy="274320"/>
          </a:xfrm>
          <a:prstGeom prst="rect">
            <a:avLst/>
          </a:prstGeom>
          <a:noFill/>
          <a:ln/>
        </p:spPr>
        <p:txBody>
          <a:bodyPr wrap="square" lIns="0" tIns="0" rIns="0" bIns="0" rtlCol="0" anchor="ctr"/>
          <a:lstStyle/>
          <a:p>
            <a:pPr marL="0" indent="0" algn="l">
              <a:buNone/>
            </a:pPr>
            <a:r>
              <a:rPr lang="en-US" sz="1100" b="1" dirty="0">
                <a:solidFill>
                  <a:srgbClr val="E8C97A"/>
                </a:solidFill>
                <a:latin typeface="Cambria" pitchFamily="34" charset="0"/>
                <a:ea typeface="Cambria" pitchFamily="34" charset="-122"/>
                <a:cs typeface="Cambria" pitchFamily="34" charset="-120"/>
              </a:rPr>
              <a:t>Setting: Amboseli Plains</a:t>
            </a:r>
            <a:endParaRPr lang="en-US" sz="1100" dirty="0"/>
          </a:p>
        </p:txBody>
      </p:sp>
      <p:sp>
        <p:nvSpPr>
          <p:cNvPr id="14" name="Text 11"/>
          <p:cNvSpPr/>
          <p:nvPr/>
        </p:nvSpPr>
        <p:spPr>
          <a:xfrm>
            <a:off x="5532120" y="3456432"/>
            <a:ext cx="3383280" cy="438912"/>
          </a:xfrm>
          <a:prstGeom prst="rect">
            <a:avLst/>
          </a:prstGeom>
          <a:noFill/>
          <a:ln/>
        </p:spPr>
        <p:txBody>
          <a:bodyPr wrap="square" lIns="0" tIns="0" rIns="0" bIns="0" rtlCol="0" anchor="t"/>
          <a:lstStyle/>
          <a:p>
            <a:pPr marL="0" indent="0" algn="l">
              <a:buNone/>
            </a:pPr>
            <a:r>
              <a:rPr lang="en-US" sz="950" dirty="0">
                <a:solidFill>
                  <a:srgbClr val="EDE0C4"/>
                </a:solidFill>
                <a:latin typeface="Cambria" pitchFamily="34" charset="0"/>
                <a:ea typeface="Cambria" pitchFamily="34" charset="-122"/>
                <a:cs typeface="Cambria" pitchFamily="34" charset="-120"/>
              </a:rPr>
              <a:t>A minimal ground line with acacia trees in the mid-distance. Just enough geography to anchor the scene without overcomplicating the relief. Classic Amboseli iconography.</a:t>
            </a:r>
            <a:endParaRPr lang="en-US" sz="950" dirty="0"/>
          </a:p>
        </p:txBody>
      </p:sp>
      <p:sp>
        <p:nvSpPr>
          <p:cNvPr id="15" name="Text 12"/>
          <p:cNvSpPr/>
          <p:nvPr/>
        </p:nvSpPr>
        <p:spPr>
          <a:xfrm>
            <a:off x="5029200" y="3968496"/>
            <a:ext cx="457200" cy="274320"/>
          </a:xfrm>
          <a:prstGeom prst="rect">
            <a:avLst/>
          </a:prstGeom>
          <a:noFill/>
          <a:ln/>
        </p:spPr>
        <p:txBody>
          <a:bodyPr wrap="square" lIns="0" tIns="0" rIns="0" bIns="0" rtlCol="0" anchor="ctr"/>
          <a:lstStyle/>
          <a:p>
            <a:pPr marL="0" indent="0" algn="l">
              <a:buNone/>
            </a:pPr>
            <a:r>
              <a:rPr lang="en-US" sz="1100" b="1" dirty="0">
                <a:solidFill>
                  <a:srgbClr val="C4A265"/>
                </a:solidFill>
                <a:latin typeface="Cambria" pitchFamily="34" charset="0"/>
                <a:ea typeface="Cambria" pitchFamily="34" charset="-122"/>
                <a:cs typeface="Cambria" pitchFamily="34" charset="-120"/>
              </a:rPr>
              <a:t>04</a:t>
            </a:r>
            <a:endParaRPr lang="en-US" sz="1100" dirty="0"/>
          </a:p>
        </p:txBody>
      </p:sp>
      <p:sp>
        <p:nvSpPr>
          <p:cNvPr id="16" name="Text 13"/>
          <p:cNvSpPr/>
          <p:nvPr/>
        </p:nvSpPr>
        <p:spPr>
          <a:xfrm>
            <a:off x="5532120" y="3968496"/>
            <a:ext cx="3383280" cy="274320"/>
          </a:xfrm>
          <a:prstGeom prst="rect">
            <a:avLst/>
          </a:prstGeom>
          <a:noFill/>
          <a:ln/>
        </p:spPr>
        <p:txBody>
          <a:bodyPr wrap="square" lIns="0" tIns="0" rIns="0" bIns="0" rtlCol="0" anchor="ctr"/>
          <a:lstStyle/>
          <a:p>
            <a:pPr marL="0" indent="0" algn="l">
              <a:buNone/>
            </a:pPr>
            <a:r>
              <a:rPr lang="en-US" sz="1100" b="1" dirty="0">
                <a:solidFill>
                  <a:srgbClr val="E8C97A"/>
                </a:solidFill>
                <a:latin typeface="Cambria" pitchFamily="34" charset="0"/>
                <a:ea typeface="Cambria" pitchFamily="34" charset="-122"/>
                <a:cs typeface="Cambria" pitchFamily="34" charset="-120"/>
              </a:rPr>
              <a:t>Style: High-Relief Silhouette</a:t>
            </a:r>
            <a:endParaRPr lang="en-US" sz="1100" dirty="0"/>
          </a:p>
        </p:txBody>
      </p:sp>
      <p:sp>
        <p:nvSpPr>
          <p:cNvPr id="17" name="Text 14"/>
          <p:cNvSpPr/>
          <p:nvPr/>
        </p:nvSpPr>
        <p:spPr>
          <a:xfrm>
            <a:off x="5532120" y="4261104"/>
            <a:ext cx="3383280" cy="438912"/>
          </a:xfrm>
          <a:prstGeom prst="rect">
            <a:avLst/>
          </a:prstGeom>
          <a:noFill/>
          <a:ln/>
        </p:spPr>
        <p:txBody>
          <a:bodyPr wrap="square" lIns="0" tIns="0" rIns="0" bIns="0" rtlCol="0" anchor="t"/>
          <a:lstStyle/>
          <a:p>
            <a:pPr marL="0" indent="0" algn="l">
              <a:buNone/>
            </a:pPr>
            <a:r>
              <a:rPr lang="en-US" sz="950" dirty="0">
                <a:solidFill>
                  <a:srgbClr val="EDE0C4"/>
                </a:solidFill>
                <a:latin typeface="Cambria" pitchFamily="34" charset="0"/>
                <a:ea typeface="Cambria" pitchFamily="34" charset="-122"/>
                <a:cs typeface="Cambria" pitchFamily="34" charset="-120"/>
              </a:rPr>
              <a:t>Graphic and bold. Reads cleanly at any size and reproduces faithfully in cast bronze. Consistent with the Archers Post reference — heritage plaque aesthetic, not decorative illustration.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B06"/>
        </a:solidFill>
        <a:effectLst/>
      </p:bgPr>
    </p:bg>
    <p:spTree>
      <p:nvGrpSpPr>
        <p:cNvPr id="1" name=""/>
        <p:cNvGrpSpPr/>
        <p:nvPr/>
      </p:nvGrpSpPr>
      <p:grpSpPr>
        <a:xfrm>
          <a:off x="0" y="0"/>
          <a:ext cx="0" cy="0"/>
          <a:chOff x="0" y="0"/>
          <a:chExt cx="0" cy="0"/>
        </a:xfrm>
      </p:grpSpPr>
      <p:pic>
        <p:nvPicPr>
          <p:cNvPr id="2" name="Image 0" descr="/home/claude/plaque_insitu.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2926080"/>
            <a:ext cx="9144000" cy="2217420"/>
          </a:xfrm>
          <a:prstGeom prst="rect">
            <a:avLst/>
          </a:prstGeom>
          <a:solidFill>
            <a:srgbClr val="0E0B06">
              <a:alpha val="80000"/>
            </a:srgbClr>
          </a:solidFill>
          <a:ln w="12700">
            <a:solidFill>
              <a:srgbClr val="0E0B06"/>
            </a:solidFill>
            <a:prstDash val="solid"/>
          </a:ln>
        </p:spPr>
      </p:sp>
      <p:sp>
        <p:nvSpPr>
          <p:cNvPr id="4" name="Text 1"/>
          <p:cNvSpPr/>
          <p:nvPr/>
        </p:nvSpPr>
        <p:spPr>
          <a:xfrm>
            <a:off x="457200" y="3200400"/>
            <a:ext cx="8229600" cy="274320"/>
          </a:xfrm>
          <a:prstGeom prst="rect">
            <a:avLst/>
          </a:prstGeom>
          <a:noFill/>
          <a:ln/>
        </p:spPr>
        <p:txBody>
          <a:bodyPr wrap="square" lIns="0" tIns="0" rIns="0" bIns="0" rtlCol="0" anchor="ctr"/>
          <a:lstStyle/>
          <a:p>
            <a:pPr marL="0" indent="0" algn="l">
              <a:buNone/>
            </a:pPr>
            <a:r>
              <a:rPr lang="en-US" sz="900" kern="0" spc="500" dirty="0">
                <a:solidFill>
                  <a:srgbClr val="C4A265"/>
                </a:solidFill>
                <a:latin typeface="Cambria" pitchFamily="34" charset="0"/>
                <a:ea typeface="Cambria" pitchFamily="34" charset="-122"/>
                <a:cs typeface="Cambria" pitchFamily="34" charset="-120"/>
              </a:rPr>
              <a:t>04  /  VISUALISATION</a:t>
            </a:r>
            <a:endParaRPr lang="en-US" sz="900" dirty="0"/>
          </a:p>
        </p:txBody>
      </p:sp>
      <p:sp>
        <p:nvSpPr>
          <p:cNvPr id="5" name="Text 2"/>
          <p:cNvSpPr/>
          <p:nvPr/>
        </p:nvSpPr>
        <p:spPr>
          <a:xfrm>
            <a:off x="457200" y="3520440"/>
            <a:ext cx="6400800" cy="502920"/>
          </a:xfrm>
          <a:prstGeom prst="rect">
            <a:avLst/>
          </a:prstGeom>
          <a:noFill/>
          <a:ln/>
        </p:spPr>
        <p:txBody>
          <a:bodyPr wrap="square" lIns="0" tIns="0" rIns="0" bIns="0" rtlCol="0" anchor="ctr"/>
          <a:lstStyle/>
          <a:p>
            <a:pPr marL="0" indent="0" algn="l">
              <a:buNone/>
            </a:pPr>
            <a:r>
              <a:rPr lang="en-US" sz="2800" b="1" dirty="0">
                <a:solidFill>
                  <a:srgbClr val="F5EDD8"/>
                </a:solidFill>
                <a:latin typeface="Cambria" pitchFamily="34" charset="0"/>
                <a:ea typeface="Cambria" pitchFamily="34" charset="-122"/>
                <a:cs typeface="Cambria" pitchFamily="34" charset="-120"/>
              </a:rPr>
              <a:t>In Situ — Soroi Amboseli</a:t>
            </a:r>
            <a:endParaRPr lang="en-US" sz="2800" dirty="0"/>
          </a:p>
        </p:txBody>
      </p:sp>
      <p:sp>
        <p:nvSpPr>
          <p:cNvPr id="6" name="Text 3"/>
          <p:cNvSpPr/>
          <p:nvPr/>
        </p:nvSpPr>
        <p:spPr>
          <a:xfrm>
            <a:off x="457200" y="4069080"/>
            <a:ext cx="8229600" cy="274320"/>
          </a:xfrm>
          <a:prstGeom prst="rect">
            <a:avLst/>
          </a:prstGeom>
          <a:noFill/>
          <a:ln/>
        </p:spPr>
        <p:txBody>
          <a:bodyPr wrap="square" lIns="0" tIns="0" rIns="0" bIns="0" rtlCol="0" anchor="ctr"/>
          <a:lstStyle/>
          <a:p>
            <a:pPr marL="0" indent="0" algn="l">
              <a:buNone/>
            </a:pPr>
            <a:r>
              <a:rPr lang="en-US" sz="900" i="1" dirty="0">
                <a:solidFill>
                  <a:srgbClr val="8C7B6B"/>
                </a:solidFill>
                <a:latin typeface="Cambria" pitchFamily="34" charset="0"/>
                <a:ea typeface="Cambria" pitchFamily="34" charset="-122"/>
                <a:cs typeface="Cambria" pitchFamily="34" charset="-120"/>
              </a:rPr>
              <a:t>AI visualisation. Final plaque subject to fabricator confirmation.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208"/>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marL="0" indent="0" algn="l">
              <a:buNone/>
            </a:pPr>
            <a:r>
              <a:rPr lang="en-US" sz="900" kern="0" spc="500" dirty="0">
                <a:solidFill>
                  <a:srgbClr val="C4A265"/>
                </a:solidFill>
                <a:latin typeface="Cambria" pitchFamily="34" charset="0"/>
                <a:ea typeface="Cambria" pitchFamily="34" charset="-122"/>
                <a:cs typeface="Cambria" pitchFamily="34" charset="-120"/>
              </a:rPr>
              <a:t>05  /  MATERIALS</a:t>
            </a:r>
            <a:endParaRPr lang="en-US" sz="900" dirty="0"/>
          </a:p>
        </p:txBody>
      </p:sp>
      <p:sp>
        <p:nvSpPr>
          <p:cNvPr id="3" name="Text 1"/>
          <p:cNvSpPr/>
          <p:nvPr/>
        </p:nvSpPr>
        <p:spPr>
          <a:xfrm>
            <a:off x="457200" y="685800"/>
            <a:ext cx="8229600" cy="594360"/>
          </a:xfrm>
          <a:prstGeom prst="rect">
            <a:avLst/>
          </a:prstGeom>
          <a:noFill/>
          <a:ln/>
        </p:spPr>
        <p:txBody>
          <a:bodyPr wrap="square" lIns="0" tIns="0" rIns="0" bIns="0" rtlCol="0" anchor="ctr"/>
          <a:lstStyle/>
          <a:p>
            <a:pPr marL="0" indent="0" algn="l">
              <a:buNone/>
            </a:pPr>
            <a:r>
              <a:rPr lang="en-US" sz="3400" b="1" dirty="0">
                <a:solidFill>
                  <a:srgbClr val="F5EDD8"/>
                </a:solidFill>
                <a:latin typeface="Cambria" pitchFamily="34" charset="0"/>
                <a:ea typeface="Cambria" pitchFamily="34" charset="-122"/>
                <a:cs typeface="Cambria" pitchFamily="34" charset="-120"/>
              </a:rPr>
              <a:t>Materials Specification</a:t>
            </a:r>
            <a:endParaRPr lang="en-US" sz="3400" dirty="0"/>
          </a:p>
        </p:txBody>
      </p:sp>
      <p:sp>
        <p:nvSpPr>
          <p:cNvPr id="4" name="Shape 2"/>
          <p:cNvSpPr/>
          <p:nvPr/>
        </p:nvSpPr>
        <p:spPr>
          <a:xfrm>
            <a:off x="457200" y="1371600"/>
            <a:ext cx="8229600" cy="18288"/>
          </a:xfrm>
          <a:prstGeom prst="rect">
            <a:avLst/>
          </a:prstGeom>
          <a:solidFill>
            <a:srgbClr val="8B6914"/>
          </a:solidFill>
          <a:ln w="12700">
            <a:solidFill>
              <a:srgbClr val="8B6914"/>
            </a:solidFill>
            <a:prstDash val="solid"/>
          </a:ln>
        </p:spPr>
      </p:sp>
      <p:sp>
        <p:nvSpPr>
          <p:cNvPr id="5" name="Shape 3"/>
          <p:cNvSpPr/>
          <p:nvPr/>
        </p:nvSpPr>
        <p:spPr>
          <a:xfrm>
            <a:off x="457200" y="1508760"/>
            <a:ext cx="4069080" cy="1024128"/>
          </a:xfrm>
          <a:prstGeom prst="roundRect">
            <a:avLst>
              <a:gd name="adj" fmla="val 6250"/>
            </a:avLst>
          </a:prstGeom>
          <a:solidFill>
            <a:srgbClr val="3D2B0F"/>
          </a:solidFill>
          <a:ln w="12700">
            <a:solidFill>
              <a:srgbClr val="8B6914"/>
            </a:solidFill>
            <a:prstDash val="solid"/>
          </a:ln>
          <a:effectLst>
            <a:outerShdw blurRad="127000" dist="38100" dir="2700000" algn="bl" rotWithShape="0">
              <a:srgbClr val="000000">
                <a:alpha val="35000"/>
              </a:srgbClr>
            </a:outerShdw>
          </a:effectLst>
        </p:spPr>
      </p:sp>
      <p:sp>
        <p:nvSpPr>
          <p:cNvPr id="6" name="Text 4"/>
          <p:cNvSpPr/>
          <p:nvPr/>
        </p:nvSpPr>
        <p:spPr>
          <a:xfrm>
            <a:off x="640080" y="1600200"/>
            <a:ext cx="3749040" cy="228600"/>
          </a:xfrm>
          <a:prstGeom prst="rect">
            <a:avLst/>
          </a:prstGeom>
          <a:noFill/>
          <a:ln/>
        </p:spPr>
        <p:txBody>
          <a:bodyPr wrap="square" lIns="0" tIns="0" rIns="0" bIns="0" rtlCol="0" anchor="ctr"/>
          <a:lstStyle/>
          <a:p>
            <a:pPr marL="0" indent="0" algn="l">
              <a:buNone/>
            </a:pPr>
            <a:r>
              <a:rPr lang="en-US" sz="850" b="1" kern="0" spc="200" dirty="0">
                <a:solidFill>
                  <a:srgbClr val="C4A265"/>
                </a:solidFill>
                <a:latin typeface="Cambria" pitchFamily="34" charset="0"/>
                <a:ea typeface="Cambria" pitchFamily="34" charset="-122"/>
                <a:cs typeface="Cambria" pitchFamily="34" charset="-120"/>
              </a:rPr>
              <a:t>PLAQUE BODY</a:t>
            </a:r>
            <a:endParaRPr lang="en-US" sz="850" dirty="0"/>
          </a:p>
        </p:txBody>
      </p:sp>
      <p:sp>
        <p:nvSpPr>
          <p:cNvPr id="7" name="Text 5"/>
          <p:cNvSpPr/>
          <p:nvPr/>
        </p:nvSpPr>
        <p:spPr>
          <a:xfrm>
            <a:off x="2491740" y="1571702"/>
            <a:ext cx="3749040" cy="228600"/>
          </a:xfrm>
          <a:prstGeom prst="rect">
            <a:avLst/>
          </a:prstGeom>
          <a:noFill/>
          <a:ln/>
        </p:spPr>
        <p:txBody>
          <a:bodyPr wrap="square" lIns="0" tIns="0" rIns="0" bIns="0" rtlCol="0" anchor="ctr"/>
          <a:lstStyle/>
          <a:p>
            <a:pPr marL="0" indent="0" algn="l">
              <a:buNone/>
            </a:pPr>
            <a:r>
              <a:rPr lang="en-US" sz="1050" b="1" dirty="0">
                <a:solidFill>
                  <a:srgbClr val="E8C97A"/>
                </a:solidFill>
                <a:latin typeface="Cambria" pitchFamily="34" charset="0"/>
                <a:ea typeface="Cambria" pitchFamily="34" charset="-122"/>
                <a:cs typeface="Cambria" pitchFamily="34" charset="-120"/>
              </a:rPr>
              <a:t>Silicon Bronze Alloy (C87200)</a:t>
            </a:r>
            <a:endParaRPr lang="en-US" sz="1050" dirty="0"/>
          </a:p>
        </p:txBody>
      </p:sp>
      <p:sp>
        <p:nvSpPr>
          <p:cNvPr id="8" name="Text 6"/>
          <p:cNvSpPr/>
          <p:nvPr/>
        </p:nvSpPr>
        <p:spPr>
          <a:xfrm>
            <a:off x="617220" y="1824228"/>
            <a:ext cx="3749040" cy="237744"/>
          </a:xfrm>
          <a:prstGeom prst="rect">
            <a:avLst/>
          </a:prstGeom>
          <a:noFill/>
          <a:ln/>
        </p:spPr>
        <p:txBody>
          <a:bodyPr wrap="square" lIns="0" tIns="0" rIns="0" bIns="0" rtlCol="0" anchor="t"/>
          <a:lstStyle/>
          <a:p>
            <a:pPr marL="0" indent="0" algn="l">
              <a:buNone/>
            </a:pPr>
            <a:r>
              <a:rPr lang="en-US" sz="850" dirty="0">
                <a:solidFill>
                  <a:srgbClr val="EDE0C4"/>
                </a:solidFill>
                <a:latin typeface="Cambria" pitchFamily="34" charset="0"/>
                <a:ea typeface="Cambria" pitchFamily="34" charset="-122"/>
                <a:cs typeface="Cambria" pitchFamily="34" charset="-120"/>
              </a:rPr>
              <a:t>The industry standard for architectural and heritage plaques. Minimum 90% copper content. Excellent castability, corrosion resistance in outdoor environments, and the warm deep-brown patina that develops over time with exposure. Superior to brass in coastal or humid climates — well suited to Amboseli's dust and seasonal rains.</a:t>
            </a:r>
            <a:endParaRPr lang="en-US" sz="850" dirty="0"/>
          </a:p>
        </p:txBody>
      </p:sp>
      <p:sp>
        <p:nvSpPr>
          <p:cNvPr id="9" name="Shape 7"/>
          <p:cNvSpPr/>
          <p:nvPr/>
        </p:nvSpPr>
        <p:spPr>
          <a:xfrm>
            <a:off x="457200" y="2624328"/>
            <a:ext cx="4069080" cy="1024128"/>
          </a:xfrm>
          <a:prstGeom prst="roundRect">
            <a:avLst>
              <a:gd name="adj" fmla="val 6250"/>
            </a:avLst>
          </a:prstGeom>
          <a:solidFill>
            <a:srgbClr val="3D2B0F"/>
          </a:solidFill>
          <a:ln w="12700">
            <a:solidFill>
              <a:srgbClr val="8B6914"/>
            </a:solidFill>
            <a:prstDash val="solid"/>
          </a:ln>
          <a:effectLst>
            <a:outerShdw blurRad="127000" dist="38100" dir="2700000" algn="bl" rotWithShape="0">
              <a:srgbClr val="000000">
                <a:alpha val="35000"/>
              </a:srgbClr>
            </a:outerShdw>
          </a:effectLst>
        </p:spPr>
      </p:sp>
      <p:sp>
        <p:nvSpPr>
          <p:cNvPr id="10" name="Text 8"/>
          <p:cNvSpPr/>
          <p:nvPr/>
        </p:nvSpPr>
        <p:spPr>
          <a:xfrm>
            <a:off x="640080" y="2715768"/>
            <a:ext cx="3749040" cy="228600"/>
          </a:xfrm>
          <a:prstGeom prst="rect">
            <a:avLst/>
          </a:prstGeom>
          <a:noFill/>
          <a:ln/>
        </p:spPr>
        <p:txBody>
          <a:bodyPr wrap="square" lIns="0" tIns="0" rIns="0" bIns="0" rtlCol="0" anchor="ctr"/>
          <a:lstStyle/>
          <a:p>
            <a:pPr marL="0" indent="0" algn="l">
              <a:buNone/>
            </a:pPr>
            <a:r>
              <a:rPr lang="en-US" sz="850" b="1" kern="0" spc="200" dirty="0">
                <a:solidFill>
                  <a:srgbClr val="C4A265"/>
                </a:solidFill>
                <a:latin typeface="Cambria" pitchFamily="34" charset="0"/>
                <a:ea typeface="Cambria" pitchFamily="34" charset="-122"/>
                <a:cs typeface="Cambria" pitchFamily="34" charset="-120"/>
              </a:rPr>
              <a:t>FINISH</a:t>
            </a:r>
            <a:endParaRPr lang="en-US" sz="850" dirty="0"/>
          </a:p>
        </p:txBody>
      </p:sp>
      <p:sp>
        <p:nvSpPr>
          <p:cNvPr id="11" name="Text 9"/>
          <p:cNvSpPr/>
          <p:nvPr/>
        </p:nvSpPr>
        <p:spPr>
          <a:xfrm>
            <a:off x="1890056" y="2701740"/>
            <a:ext cx="3749040" cy="228600"/>
          </a:xfrm>
          <a:prstGeom prst="rect">
            <a:avLst/>
          </a:prstGeom>
          <a:noFill/>
          <a:ln/>
        </p:spPr>
        <p:txBody>
          <a:bodyPr wrap="square" lIns="0" tIns="0" rIns="0" bIns="0" rtlCol="0" anchor="ctr"/>
          <a:lstStyle/>
          <a:p>
            <a:pPr marL="0" indent="0" algn="l">
              <a:buNone/>
            </a:pPr>
            <a:r>
              <a:rPr lang="en-US" sz="1050" b="1" dirty="0">
                <a:solidFill>
                  <a:srgbClr val="E8C97A"/>
                </a:solidFill>
                <a:latin typeface="Cambria" pitchFamily="34" charset="0"/>
                <a:ea typeface="Cambria" pitchFamily="34" charset="-122"/>
                <a:cs typeface="Cambria" pitchFamily="34" charset="-120"/>
              </a:rPr>
              <a:t>Dark Patina with Raised Polished Bronze</a:t>
            </a:r>
            <a:endParaRPr lang="en-US" sz="1050" dirty="0"/>
          </a:p>
        </p:txBody>
      </p:sp>
      <p:sp>
        <p:nvSpPr>
          <p:cNvPr id="12" name="Text 10"/>
          <p:cNvSpPr/>
          <p:nvPr/>
        </p:nvSpPr>
        <p:spPr>
          <a:xfrm>
            <a:off x="640080" y="2953512"/>
            <a:ext cx="3749040" cy="438912"/>
          </a:xfrm>
          <a:prstGeom prst="rect">
            <a:avLst/>
          </a:prstGeom>
          <a:noFill/>
          <a:ln/>
        </p:spPr>
        <p:txBody>
          <a:bodyPr wrap="square" lIns="0" tIns="0" rIns="0" bIns="0" rtlCol="0" anchor="t"/>
          <a:lstStyle/>
          <a:p>
            <a:pPr marL="0" indent="0" algn="l">
              <a:buNone/>
            </a:pPr>
            <a:r>
              <a:rPr lang="en-US" sz="850" dirty="0">
                <a:solidFill>
                  <a:srgbClr val="EDE0C4"/>
                </a:solidFill>
                <a:latin typeface="Cambria" pitchFamily="34" charset="0"/>
                <a:ea typeface="Cambria" pitchFamily="34" charset="-122"/>
                <a:cs typeface="Cambria" pitchFamily="34" charset="-120"/>
              </a:rPr>
              <a:t>Background chemically patinated to a deep brown-black using liver of sulphur solution. Raised lettering and relief artwork polished back to bright bronze. This two-tone contrast is the defining visual characteristic of heritage cast plaques. A clear lacquer sealant is applied over the polished surfaces to protect against oxidation.</a:t>
            </a:r>
            <a:endParaRPr lang="en-US" sz="850" dirty="0"/>
          </a:p>
        </p:txBody>
      </p:sp>
      <p:sp>
        <p:nvSpPr>
          <p:cNvPr id="13" name="Shape 11"/>
          <p:cNvSpPr/>
          <p:nvPr/>
        </p:nvSpPr>
        <p:spPr>
          <a:xfrm>
            <a:off x="457200" y="3739896"/>
            <a:ext cx="4069080" cy="1024128"/>
          </a:xfrm>
          <a:prstGeom prst="roundRect">
            <a:avLst>
              <a:gd name="adj" fmla="val 6250"/>
            </a:avLst>
          </a:prstGeom>
          <a:solidFill>
            <a:srgbClr val="3D2B0F"/>
          </a:solidFill>
          <a:ln w="12700">
            <a:solidFill>
              <a:srgbClr val="8B6914"/>
            </a:solidFill>
            <a:prstDash val="solid"/>
          </a:ln>
          <a:effectLst>
            <a:outerShdw blurRad="127000" dist="38100" dir="2700000" algn="bl" rotWithShape="0">
              <a:srgbClr val="000000">
                <a:alpha val="35000"/>
              </a:srgbClr>
            </a:outerShdw>
          </a:effectLst>
        </p:spPr>
      </p:sp>
      <p:sp>
        <p:nvSpPr>
          <p:cNvPr id="14" name="Text 12"/>
          <p:cNvSpPr/>
          <p:nvPr/>
        </p:nvSpPr>
        <p:spPr>
          <a:xfrm>
            <a:off x="640080" y="3831336"/>
            <a:ext cx="3749040" cy="228600"/>
          </a:xfrm>
          <a:prstGeom prst="rect">
            <a:avLst/>
          </a:prstGeom>
          <a:noFill/>
          <a:ln/>
        </p:spPr>
        <p:txBody>
          <a:bodyPr wrap="square" lIns="0" tIns="0" rIns="0" bIns="0" rtlCol="0" anchor="ctr"/>
          <a:lstStyle/>
          <a:p>
            <a:pPr marL="0" indent="0" algn="l">
              <a:buNone/>
            </a:pPr>
            <a:r>
              <a:rPr lang="en-US" sz="850" b="1" kern="0" spc="200" dirty="0">
                <a:solidFill>
                  <a:srgbClr val="C4A265"/>
                </a:solidFill>
                <a:latin typeface="Cambria" pitchFamily="34" charset="0"/>
                <a:ea typeface="Cambria" pitchFamily="34" charset="-122"/>
                <a:cs typeface="Cambria" pitchFamily="34" charset="-120"/>
              </a:rPr>
              <a:t>MOUNTING FRAME</a:t>
            </a:r>
            <a:endParaRPr lang="en-US" sz="850" dirty="0"/>
          </a:p>
        </p:txBody>
      </p:sp>
      <p:sp>
        <p:nvSpPr>
          <p:cNvPr id="15" name="Text 13"/>
          <p:cNvSpPr/>
          <p:nvPr/>
        </p:nvSpPr>
        <p:spPr>
          <a:xfrm>
            <a:off x="2514600" y="3831336"/>
            <a:ext cx="3749040" cy="228600"/>
          </a:xfrm>
          <a:prstGeom prst="rect">
            <a:avLst/>
          </a:prstGeom>
          <a:noFill/>
          <a:ln/>
        </p:spPr>
        <p:txBody>
          <a:bodyPr wrap="square" lIns="0" tIns="0" rIns="0" bIns="0" rtlCol="0" anchor="ctr"/>
          <a:lstStyle/>
          <a:p>
            <a:pPr marL="0" indent="0" algn="l">
              <a:buNone/>
            </a:pPr>
            <a:r>
              <a:rPr lang="en-US" sz="1050" b="1" dirty="0">
                <a:solidFill>
                  <a:srgbClr val="E8C97A"/>
                </a:solidFill>
                <a:latin typeface="Cambria" pitchFamily="34" charset="0"/>
                <a:ea typeface="Cambria" pitchFamily="34" charset="-122"/>
                <a:cs typeface="Cambria" pitchFamily="34" charset="-120"/>
              </a:rPr>
              <a:t>Brass Border Frame, 10mm</a:t>
            </a:r>
            <a:endParaRPr lang="en-US" sz="1050" dirty="0"/>
          </a:p>
        </p:txBody>
      </p:sp>
      <p:sp>
        <p:nvSpPr>
          <p:cNvPr id="16" name="Text 14"/>
          <p:cNvSpPr/>
          <p:nvPr/>
        </p:nvSpPr>
        <p:spPr>
          <a:xfrm>
            <a:off x="640080" y="4192080"/>
            <a:ext cx="3749040" cy="438912"/>
          </a:xfrm>
          <a:prstGeom prst="rect">
            <a:avLst/>
          </a:prstGeom>
          <a:noFill/>
          <a:ln/>
        </p:spPr>
        <p:txBody>
          <a:bodyPr wrap="square" lIns="0" tIns="0" rIns="0" bIns="0" rtlCol="0" anchor="t"/>
          <a:lstStyle/>
          <a:p>
            <a:pPr marL="0" indent="0" algn="l">
              <a:buNone/>
            </a:pPr>
            <a:r>
              <a:rPr lang="en-US" sz="850" dirty="0">
                <a:solidFill>
                  <a:srgbClr val="EDE0C4"/>
                </a:solidFill>
                <a:latin typeface="Cambria" pitchFamily="34" charset="0"/>
                <a:ea typeface="Cambria" pitchFamily="34" charset="-122"/>
                <a:cs typeface="Cambria" pitchFamily="34" charset="-120"/>
              </a:rPr>
              <a:t>A narrow raised brass border frames the perimeter of the plaque. Provides structural edge protection and visual definition against the stone backing. Corner-drilled for stainless steel countersunk fixing bolts.</a:t>
            </a:r>
            <a:endParaRPr lang="en-US" sz="850" dirty="0"/>
          </a:p>
        </p:txBody>
      </p:sp>
      <p:sp>
        <p:nvSpPr>
          <p:cNvPr id="17" name="Shape 15"/>
          <p:cNvSpPr/>
          <p:nvPr/>
        </p:nvSpPr>
        <p:spPr>
          <a:xfrm>
            <a:off x="4754880" y="1508760"/>
            <a:ext cx="4069080" cy="1024128"/>
          </a:xfrm>
          <a:prstGeom prst="roundRect">
            <a:avLst>
              <a:gd name="adj" fmla="val 6250"/>
            </a:avLst>
          </a:prstGeom>
          <a:solidFill>
            <a:srgbClr val="3D2B0F"/>
          </a:solidFill>
          <a:ln w="12700">
            <a:solidFill>
              <a:srgbClr val="8B6914"/>
            </a:solidFill>
            <a:prstDash val="solid"/>
          </a:ln>
          <a:effectLst>
            <a:outerShdw blurRad="127000" dist="38100" dir="2700000" algn="bl" rotWithShape="0">
              <a:srgbClr val="000000">
                <a:alpha val="35000"/>
              </a:srgbClr>
            </a:outerShdw>
          </a:effectLst>
        </p:spPr>
      </p:sp>
      <p:sp>
        <p:nvSpPr>
          <p:cNvPr id="18" name="Text 16"/>
          <p:cNvSpPr/>
          <p:nvPr/>
        </p:nvSpPr>
        <p:spPr>
          <a:xfrm>
            <a:off x="4937760" y="1600200"/>
            <a:ext cx="3749040" cy="228600"/>
          </a:xfrm>
          <a:prstGeom prst="rect">
            <a:avLst/>
          </a:prstGeom>
          <a:noFill/>
          <a:ln/>
        </p:spPr>
        <p:txBody>
          <a:bodyPr wrap="square" lIns="0" tIns="0" rIns="0" bIns="0" rtlCol="0" anchor="ctr"/>
          <a:lstStyle/>
          <a:p>
            <a:pPr marL="0" indent="0" algn="l">
              <a:buNone/>
            </a:pPr>
            <a:r>
              <a:rPr lang="en-US" sz="850" b="1" kern="0" spc="200" dirty="0">
                <a:solidFill>
                  <a:srgbClr val="C4A265"/>
                </a:solidFill>
                <a:latin typeface="Cambria" pitchFamily="34" charset="0"/>
                <a:ea typeface="Cambria" pitchFamily="34" charset="-122"/>
                <a:cs typeface="Cambria" pitchFamily="34" charset="-120"/>
              </a:rPr>
              <a:t>FIXING HARDWARE</a:t>
            </a:r>
            <a:endParaRPr lang="en-US" sz="850" dirty="0"/>
          </a:p>
        </p:txBody>
      </p:sp>
      <p:sp>
        <p:nvSpPr>
          <p:cNvPr id="19" name="Text 17"/>
          <p:cNvSpPr/>
          <p:nvPr/>
        </p:nvSpPr>
        <p:spPr>
          <a:xfrm>
            <a:off x="6652260" y="1597537"/>
            <a:ext cx="3749040" cy="228600"/>
          </a:xfrm>
          <a:prstGeom prst="rect">
            <a:avLst/>
          </a:prstGeom>
          <a:noFill/>
          <a:ln/>
        </p:spPr>
        <p:txBody>
          <a:bodyPr wrap="square" lIns="0" tIns="0" rIns="0" bIns="0" rtlCol="0" anchor="ctr"/>
          <a:lstStyle/>
          <a:p>
            <a:pPr marL="0" indent="0" algn="l">
              <a:buNone/>
            </a:pPr>
            <a:r>
              <a:rPr lang="en-US" sz="1050" b="1" dirty="0">
                <a:solidFill>
                  <a:srgbClr val="E8C97A"/>
                </a:solidFill>
                <a:latin typeface="Cambria" pitchFamily="34" charset="0"/>
                <a:ea typeface="Cambria" pitchFamily="34" charset="-122"/>
                <a:cs typeface="Cambria" pitchFamily="34" charset="-120"/>
              </a:rPr>
              <a:t>316 Marine-Grade Stainless Steel</a:t>
            </a:r>
            <a:endParaRPr lang="en-US" sz="1050" dirty="0"/>
          </a:p>
        </p:txBody>
      </p:sp>
      <p:sp>
        <p:nvSpPr>
          <p:cNvPr id="20" name="Text 18"/>
          <p:cNvSpPr/>
          <p:nvPr/>
        </p:nvSpPr>
        <p:spPr>
          <a:xfrm>
            <a:off x="4937760" y="2039112"/>
            <a:ext cx="3749040" cy="438912"/>
          </a:xfrm>
          <a:prstGeom prst="rect">
            <a:avLst/>
          </a:prstGeom>
          <a:noFill/>
          <a:ln/>
        </p:spPr>
        <p:txBody>
          <a:bodyPr wrap="square" lIns="0" tIns="0" rIns="0" bIns="0" rtlCol="0" anchor="t"/>
          <a:lstStyle/>
          <a:p>
            <a:pPr marL="0" indent="0" algn="l">
              <a:buNone/>
            </a:pPr>
            <a:r>
              <a:rPr lang="en-US" sz="850" dirty="0">
                <a:solidFill>
                  <a:srgbClr val="EDE0C4"/>
                </a:solidFill>
                <a:latin typeface="Cambria" pitchFamily="34" charset="0"/>
                <a:ea typeface="Cambria" pitchFamily="34" charset="-122"/>
                <a:cs typeface="Cambria" pitchFamily="34" charset="-120"/>
              </a:rPr>
              <a:t>Four countersunk M8 bolts, one at each corner. Marine-grade stainless is specified for long-term resistance to corrosion in outdoor conditions. Bolt heads sit flush with the plaque face.</a:t>
            </a:r>
            <a:endParaRPr lang="en-US" sz="850" dirty="0"/>
          </a:p>
        </p:txBody>
      </p:sp>
      <p:sp>
        <p:nvSpPr>
          <p:cNvPr id="21" name="Shape 19"/>
          <p:cNvSpPr/>
          <p:nvPr/>
        </p:nvSpPr>
        <p:spPr>
          <a:xfrm>
            <a:off x="4754880" y="2624328"/>
            <a:ext cx="4069080" cy="1024128"/>
          </a:xfrm>
          <a:prstGeom prst="roundRect">
            <a:avLst>
              <a:gd name="adj" fmla="val 6250"/>
            </a:avLst>
          </a:prstGeom>
          <a:solidFill>
            <a:srgbClr val="3D2B0F"/>
          </a:solidFill>
          <a:ln w="12700">
            <a:solidFill>
              <a:srgbClr val="8B6914"/>
            </a:solidFill>
            <a:prstDash val="solid"/>
          </a:ln>
          <a:effectLst>
            <a:outerShdw blurRad="127000" dist="38100" dir="2700000" algn="bl" rotWithShape="0">
              <a:srgbClr val="000000">
                <a:alpha val="35000"/>
              </a:srgbClr>
            </a:outerShdw>
          </a:effectLst>
        </p:spPr>
      </p:sp>
      <p:sp>
        <p:nvSpPr>
          <p:cNvPr id="22" name="Text 20"/>
          <p:cNvSpPr/>
          <p:nvPr/>
        </p:nvSpPr>
        <p:spPr>
          <a:xfrm>
            <a:off x="4937760" y="2715768"/>
            <a:ext cx="3749040" cy="228600"/>
          </a:xfrm>
          <a:prstGeom prst="rect">
            <a:avLst/>
          </a:prstGeom>
          <a:noFill/>
          <a:ln/>
        </p:spPr>
        <p:txBody>
          <a:bodyPr wrap="square" lIns="0" tIns="0" rIns="0" bIns="0" rtlCol="0" anchor="ctr"/>
          <a:lstStyle/>
          <a:p>
            <a:pPr marL="0" indent="0" algn="l">
              <a:buNone/>
            </a:pPr>
            <a:r>
              <a:rPr lang="en-US" sz="850" b="1" kern="0" spc="200" dirty="0">
                <a:solidFill>
                  <a:srgbClr val="C4A265"/>
                </a:solidFill>
                <a:latin typeface="Cambria" pitchFamily="34" charset="0"/>
                <a:ea typeface="Cambria" pitchFamily="34" charset="-122"/>
                <a:cs typeface="Cambria" pitchFamily="34" charset="-120"/>
              </a:rPr>
              <a:t>BACKING WALL</a:t>
            </a:r>
            <a:endParaRPr lang="en-US" sz="850" dirty="0"/>
          </a:p>
        </p:txBody>
      </p:sp>
      <p:sp>
        <p:nvSpPr>
          <p:cNvPr id="23" name="Text 21"/>
          <p:cNvSpPr/>
          <p:nvPr/>
        </p:nvSpPr>
        <p:spPr>
          <a:xfrm>
            <a:off x="6629400" y="2702449"/>
            <a:ext cx="3749040" cy="228600"/>
          </a:xfrm>
          <a:prstGeom prst="rect">
            <a:avLst/>
          </a:prstGeom>
          <a:noFill/>
          <a:ln/>
        </p:spPr>
        <p:txBody>
          <a:bodyPr wrap="square" lIns="0" tIns="0" rIns="0" bIns="0" rtlCol="0" anchor="ctr"/>
          <a:lstStyle/>
          <a:p>
            <a:pPr marL="0" indent="0" algn="l">
              <a:buNone/>
            </a:pPr>
            <a:r>
              <a:rPr lang="en-US" sz="1050" b="1" dirty="0">
                <a:solidFill>
                  <a:srgbClr val="E8C97A"/>
                </a:solidFill>
                <a:latin typeface="Cambria" pitchFamily="34" charset="0"/>
                <a:ea typeface="Cambria" pitchFamily="34" charset="-122"/>
                <a:cs typeface="Cambria" pitchFamily="34" charset="-120"/>
              </a:rPr>
              <a:t>Natural River Stone Masonry</a:t>
            </a:r>
            <a:endParaRPr lang="en-US" sz="1050" dirty="0"/>
          </a:p>
        </p:txBody>
      </p:sp>
      <p:sp>
        <p:nvSpPr>
          <p:cNvPr id="24" name="Text 22"/>
          <p:cNvSpPr/>
          <p:nvPr/>
        </p:nvSpPr>
        <p:spPr>
          <a:xfrm>
            <a:off x="4937760" y="3021780"/>
            <a:ext cx="3749040" cy="438912"/>
          </a:xfrm>
          <a:prstGeom prst="rect">
            <a:avLst/>
          </a:prstGeom>
          <a:noFill/>
          <a:ln/>
        </p:spPr>
        <p:txBody>
          <a:bodyPr wrap="square" lIns="0" tIns="0" rIns="0" bIns="0" rtlCol="0" anchor="t"/>
          <a:lstStyle/>
          <a:p>
            <a:pPr marL="0" indent="0" algn="l">
              <a:buNone/>
            </a:pPr>
            <a:r>
              <a:rPr lang="en-US" sz="850" dirty="0">
                <a:solidFill>
                  <a:srgbClr val="EDE0C4"/>
                </a:solidFill>
                <a:latin typeface="Cambria" pitchFamily="34" charset="0"/>
                <a:ea typeface="Cambria" pitchFamily="34" charset="-122"/>
                <a:cs typeface="Cambria" pitchFamily="34" charset="-120"/>
              </a:rPr>
              <a:t>Consistent with the Archers Post reference plaque and with the material language of East African conservation infrastructure. Locally sourced rounded river stones set in a rough mortar. The plaque is recessed slightly into the face of the wall for a flush, integrated finish.</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208"/>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marL="0" indent="0" algn="l">
              <a:buNone/>
            </a:pPr>
            <a:r>
              <a:rPr lang="en-US" sz="900" kern="0" spc="500" dirty="0">
                <a:solidFill>
                  <a:srgbClr val="C4A265"/>
                </a:solidFill>
                <a:latin typeface="Cambria" pitchFamily="34" charset="0"/>
                <a:ea typeface="Cambria" pitchFamily="34" charset="-122"/>
                <a:cs typeface="Cambria" pitchFamily="34" charset="-120"/>
              </a:rPr>
              <a:t>06  /  MANUFACTURING</a:t>
            </a:r>
            <a:endParaRPr lang="en-US" sz="900" dirty="0"/>
          </a:p>
        </p:txBody>
      </p:sp>
      <p:sp>
        <p:nvSpPr>
          <p:cNvPr id="3" name="Text 1"/>
          <p:cNvSpPr/>
          <p:nvPr/>
        </p:nvSpPr>
        <p:spPr>
          <a:xfrm>
            <a:off x="457200" y="685800"/>
            <a:ext cx="8229600" cy="594360"/>
          </a:xfrm>
          <a:prstGeom prst="rect">
            <a:avLst/>
          </a:prstGeom>
          <a:noFill/>
          <a:ln/>
        </p:spPr>
        <p:txBody>
          <a:bodyPr wrap="square" lIns="0" tIns="0" rIns="0" bIns="0" rtlCol="0" anchor="ctr"/>
          <a:lstStyle/>
          <a:p>
            <a:pPr marL="0" indent="0" algn="l">
              <a:buNone/>
            </a:pPr>
            <a:r>
              <a:rPr lang="en-US" sz="3400" b="1" dirty="0">
                <a:solidFill>
                  <a:srgbClr val="F5EDD8"/>
                </a:solidFill>
                <a:latin typeface="Cambria" pitchFamily="34" charset="0"/>
                <a:ea typeface="Cambria" pitchFamily="34" charset="-122"/>
                <a:cs typeface="Cambria" pitchFamily="34" charset="-120"/>
              </a:rPr>
              <a:t>How It Is Made</a:t>
            </a:r>
            <a:endParaRPr lang="en-US" sz="3400" dirty="0"/>
          </a:p>
        </p:txBody>
      </p:sp>
      <p:sp>
        <p:nvSpPr>
          <p:cNvPr id="4" name="Shape 2"/>
          <p:cNvSpPr/>
          <p:nvPr/>
        </p:nvSpPr>
        <p:spPr>
          <a:xfrm>
            <a:off x="457200" y="1371600"/>
            <a:ext cx="8229600" cy="18288"/>
          </a:xfrm>
          <a:prstGeom prst="rect">
            <a:avLst/>
          </a:prstGeom>
          <a:solidFill>
            <a:srgbClr val="8B6914"/>
          </a:solidFill>
          <a:ln w="12700">
            <a:solidFill>
              <a:srgbClr val="8B6914"/>
            </a:solidFill>
            <a:prstDash val="solid"/>
          </a:ln>
        </p:spPr>
      </p:sp>
      <p:sp>
        <p:nvSpPr>
          <p:cNvPr id="5" name="Shape 3"/>
          <p:cNvSpPr/>
          <p:nvPr/>
        </p:nvSpPr>
        <p:spPr>
          <a:xfrm>
            <a:off x="457200" y="1508760"/>
            <a:ext cx="4069080" cy="1115568"/>
          </a:xfrm>
          <a:prstGeom prst="roundRect">
            <a:avLst>
              <a:gd name="adj" fmla="val 5738"/>
            </a:avLst>
          </a:prstGeom>
          <a:solidFill>
            <a:srgbClr val="3D2B0F"/>
          </a:solidFill>
          <a:ln w="12700">
            <a:solidFill>
              <a:srgbClr val="8B6914"/>
            </a:solidFill>
            <a:prstDash val="solid"/>
          </a:ln>
          <a:effectLst>
            <a:outerShdw blurRad="127000" dist="38100" dir="2700000" algn="bl" rotWithShape="0">
              <a:srgbClr val="000000">
                <a:alpha val="35000"/>
              </a:srgbClr>
            </a:outerShdw>
          </a:effectLst>
        </p:spPr>
      </p:sp>
      <p:sp>
        <p:nvSpPr>
          <p:cNvPr id="6" name="Text 4"/>
          <p:cNvSpPr/>
          <p:nvPr/>
        </p:nvSpPr>
        <p:spPr>
          <a:xfrm>
            <a:off x="621792" y="1600200"/>
            <a:ext cx="502920" cy="320040"/>
          </a:xfrm>
          <a:prstGeom prst="rect">
            <a:avLst/>
          </a:prstGeom>
          <a:noFill/>
          <a:ln/>
        </p:spPr>
        <p:txBody>
          <a:bodyPr wrap="square" lIns="0" tIns="0" rIns="0" bIns="0" rtlCol="0" anchor="ctr"/>
          <a:lstStyle/>
          <a:p>
            <a:pPr marL="0" indent="0" algn="l">
              <a:buNone/>
            </a:pPr>
            <a:r>
              <a:rPr lang="en-US" sz="1800" b="1" dirty="0">
                <a:solidFill>
                  <a:srgbClr val="C4A265"/>
                </a:solidFill>
                <a:latin typeface="Cambria" pitchFamily="34" charset="0"/>
                <a:ea typeface="Cambria" pitchFamily="34" charset="-122"/>
                <a:cs typeface="Cambria" pitchFamily="34" charset="-120"/>
              </a:rPr>
              <a:t>01</a:t>
            </a:r>
            <a:endParaRPr lang="en-US" sz="1800" dirty="0"/>
          </a:p>
        </p:txBody>
      </p:sp>
      <p:sp>
        <p:nvSpPr>
          <p:cNvPr id="7" name="Text 5"/>
          <p:cNvSpPr/>
          <p:nvPr/>
        </p:nvSpPr>
        <p:spPr>
          <a:xfrm>
            <a:off x="1115568" y="1618488"/>
            <a:ext cx="3246120" cy="274320"/>
          </a:xfrm>
          <a:prstGeom prst="rect">
            <a:avLst/>
          </a:prstGeom>
          <a:noFill/>
          <a:ln/>
        </p:spPr>
        <p:txBody>
          <a:bodyPr wrap="square" lIns="0" tIns="0" rIns="0" bIns="0" rtlCol="0" anchor="ctr"/>
          <a:lstStyle/>
          <a:p>
            <a:pPr marL="0" indent="0" algn="l">
              <a:buNone/>
            </a:pPr>
            <a:r>
              <a:rPr lang="en-US" sz="1100" b="1" dirty="0">
                <a:solidFill>
                  <a:srgbClr val="E8C97A"/>
                </a:solidFill>
                <a:latin typeface="Cambria" pitchFamily="34" charset="0"/>
                <a:ea typeface="Cambria" pitchFamily="34" charset="-122"/>
                <a:cs typeface="Cambria" pitchFamily="34" charset="-120"/>
              </a:rPr>
              <a:t>Artwork Preparation</a:t>
            </a:r>
            <a:endParaRPr lang="en-US" sz="1100" dirty="0"/>
          </a:p>
        </p:txBody>
      </p:sp>
      <p:sp>
        <p:nvSpPr>
          <p:cNvPr id="8" name="Text 6"/>
          <p:cNvSpPr/>
          <p:nvPr/>
        </p:nvSpPr>
        <p:spPr>
          <a:xfrm>
            <a:off x="621792" y="1929384"/>
            <a:ext cx="3767328" cy="621792"/>
          </a:xfrm>
          <a:prstGeom prst="rect">
            <a:avLst/>
          </a:prstGeom>
          <a:noFill/>
          <a:ln/>
        </p:spPr>
        <p:txBody>
          <a:bodyPr wrap="square" lIns="0" tIns="0" rIns="0" bIns="0" rtlCol="0" anchor="t"/>
          <a:lstStyle/>
          <a:p>
            <a:pPr marL="0" indent="0" algn="l">
              <a:buNone/>
            </a:pPr>
            <a:r>
              <a:rPr lang="en-US" sz="900" dirty="0">
                <a:solidFill>
                  <a:srgbClr val="EDE0C4"/>
                </a:solidFill>
                <a:latin typeface="Cambria" pitchFamily="34" charset="0"/>
                <a:ea typeface="Cambria" pitchFamily="34" charset="-122"/>
                <a:cs typeface="Cambria" pitchFamily="34" charset="-120"/>
              </a:rPr>
              <a:t>Final artwork produced as a high-resolution vector file (SVG/AI). The elephant and Kilimanjaro silhouette is drawn with clean, castable edges — no hairlines or detail that would be lost at relief depth. Typography set in the final approved font and converted to outlines. File supplied to foundry at 1:1 scale.</a:t>
            </a:r>
            <a:endParaRPr lang="en-US" sz="900" dirty="0"/>
          </a:p>
        </p:txBody>
      </p:sp>
      <p:sp>
        <p:nvSpPr>
          <p:cNvPr id="9" name="Shape 7"/>
          <p:cNvSpPr/>
          <p:nvPr/>
        </p:nvSpPr>
        <p:spPr>
          <a:xfrm>
            <a:off x="4754880" y="1508760"/>
            <a:ext cx="4069080" cy="1115568"/>
          </a:xfrm>
          <a:prstGeom prst="roundRect">
            <a:avLst>
              <a:gd name="adj" fmla="val 5738"/>
            </a:avLst>
          </a:prstGeom>
          <a:solidFill>
            <a:srgbClr val="3D2B0F"/>
          </a:solidFill>
          <a:ln w="12700">
            <a:solidFill>
              <a:srgbClr val="8B6914"/>
            </a:solidFill>
            <a:prstDash val="solid"/>
          </a:ln>
          <a:effectLst>
            <a:outerShdw blurRad="127000" dist="38100" dir="2700000" algn="bl" rotWithShape="0">
              <a:srgbClr val="000000">
                <a:alpha val="35000"/>
              </a:srgbClr>
            </a:outerShdw>
          </a:effectLst>
        </p:spPr>
      </p:sp>
      <p:sp>
        <p:nvSpPr>
          <p:cNvPr id="10" name="Text 8"/>
          <p:cNvSpPr/>
          <p:nvPr/>
        </p:nvSpPr>
        <p:spPr>
          <a:xfrm>
            <a:off x="4919472" y="1600200"/>
            <a:ext cx="502920" cy="320040"/>
          </a:xfrm>
          <a:prstGeom prst="rect">
            <a:avLst/>
          </a:prstGeom>
          <a:noFill/>
          <a:ln/>
        </p:spPr>
        <p:txBody>
          <a:bodyPr wrap="square" lIns="0" tIns="0" rIns="0" bIns="0" rtlCol="0" anchor="ctr"/>
          <a:lstStyle/>
          <a:p>
            <a:pPr marL="0" indent="0" algn="l">
              <a:buNone/>
            </a:pPr>
            <a:r>
              <a:rPr lang="en-US" sz="1800" b="1" dirty="0">
                <a:solidFill>
                  <a:srgbClr val="C4A265"/>
                </a:solidFill>
                <a:latin typeface="Cambria" pitchFamily="34" charset="0"/>
                <a:ea typeface="Cambria" pitchFamily="34" charset="-122"/>
                <a:cs typeface="Cambria" pitchFamily="34" charset="-120"/>
              </a:rPr>
              <a:t>02</a:t>
            </a:r>
            <a:endParaRPr lang="en-US" sz="1800" dirty="0"/>
          </a:p>
        </p:txBody>
      </p:sp>
      <p:sp>
        <p:nvSpPr>
          <p:cNvPr id="11" name="Text 9"/>
          <p:cNvSpPr/>
          <p:nvPr/>
        </p:nvSpPr>
        <p:spPr>
          <a:xfrm>
            <a:off x="5413248" y="1618488"/>
            <a:ext cx="3246120" cy="274320"/>
          </a:xfrm>
          <a:prstGeom prst="rect">
            <a:avLst/>
          </a:prstGeom>
          <a:noFill/>
          <a:ln/>
        </p:spPr>
        <p:txBody>
          <a:bodyPr wrap="square" lIns="0" tIns="0" rIns="0" bIns="0" rtlCol="0" anchor="ctr"/>
          <a:lstStyle/>
          <a:p>
            <a:pPr marL="0" indent="0" algn="l">
              <a:buNone/>
            </a:pPr>
            <a:r>
              <a:rPr lang="en-US" sz="1100" b="1" dirty="0">
                <a:solidFill>
                  <a:srgbClr val="E8C97A"/>
                </a:solidFill>
                <a:latin typeface="Cambria" pitchFamily="34" charset="0"/>
                <a:ea typeface="Cambria" pitchFamily="34" charset="-122"/>
                <a:cs typeface="Cambria" pitchFamily="34" charset="-120"/>
              </a:rPr>
              <a:t>Pattern Making</a:t>
            </a:r>
            <a:endParaRPr lang="en-US" sz="1100" dirty="0"/>
          </a:p>
        </p:txBody>
      </p:sp>
      <p:sp>
        <p:nvSpPr>
          <p:cNvPr id="12" name="Text 10"/>
          <p:cNvSpPr/>
          <p:nvPr/>
        </p:nvSpPr>
        <p:spPr>
          <a:xfrm>
            <a:off x="4919472" y="1929384"/>
            <a:ext cx="3767328" cy="621792"/>
          </a:xfrm>
          <a:prstGeom prst="rect">
            <a:avLst/>
          </a:prstGeom>
          <a:noFill/>
          <a:ln/>
        </p:spPr>
        <p:txBody>
          <a:bodyPr wrap="square" lIns="0" tIns="0" rIns="0" bIns="0" rtlCol="0" anchor="t"/>
          <a:lstStyle/>
          <a:p>
            <a:pPr marL="0" indent="0" algn="l">
              <a:buNone/>
            </a:pPr>
            <a:r>
              <a:rPr lang="en-US" sz="900" dirty="0">
                <a:solidFill>
                  <a:srgbClr val="EDE0C4"/>
                </a:solidFill>
                <a:latin typeface="Cambria" pitchFamily="34" charset="0"/>
                <a:ea typeface="Cambria" pitchFamily="34" charset="-122"/>
                <a:cs typeface="Cambria" pitchFamily="34" charset="-120"/>
              </a:rPr>
              <a:t>The foundry produces a master pattern from the artwork — either CNC-milled from tooling board or 3D-printed in resin. Relief depth is specified at 4–6mm for the artwork and 3mm for the lettering. The pattern is finished and inspected before moulding begins.</a:t>
            </a:r>
            <a:endParaRPr lang="en-US" sz="900" dirty="0"/>
          </a:p>
        </p:txBody>
      </p:sp>
      <p:sp>
        <p:nvSpPr>
          <p:cNvPr id="13" name="Shape 11"/>
          <p:cNvSpPr/>
          <p:nvPr/>
        </p:nvSpPr>
        <p:spPr>
          <a:xfrm>
            <a:off x="457200" y="2743200"/>
            <a:ext cx="4069080" cy="1115568"/>
          </a:xfrm>
          <a:prstGeom prst="roundRect">
            <a:avLst>
              <a:gd name="adj" fmla="val 5738"/>
            </a:avLst>
          </a:prstGeom>
          <a:solidFill>
            <a:srgbClr val="3D2B0F"/>
          </a:solidFill>
          <a:ln w="12700">
            <a:solidFill>
              <a:srgbClr val="8B6914"/>
            </a:solidFill>
            <a:prstDash val="solid"/>
          </a:ln>
          <a:effectLst>
            <a:outerShdw blurRad="127000" dist="38100" dir="2700000" algn="bl" rotWithShape="0">
              <a:srgbClr val="000000">
                <a:alpha val="35000"/>
              </a:srgbClr>
            </a:outerShdw>
          </a:effectLst>
        </p:spPr>
      </p:sp>
      <p:sp>
        <p:nvSpPr>
          <p:cNvPr id="14" name="Text 12"/>
          <p:cNvSpPr/>
          <p:nvPr/>
        </p:nvSpPr>
        <p:spPr>
          <a:xfrm>
            <a:off x="621792" y="2834640"/>
            <a:ext cx="502920" cy="320040"/>
          </a:xfrm>
          <a:prstGeom prst="rect">
            <a:avLst/>
          </a:prstGeom>
          <a:noFill/>
          <a:ln/>
        </p:spPr>
        <p:txBody>
          <a:bodyPr wrap="square" lIns="0" tIns="0" rIns="0" bIns="0" rtlCol="0" anchor="ctr"/>
          <a:lstStyle/>
          <a:p>
            <a:pPr marL="0" indent="0" algn="l">
              <a:buNone/>
            </a:pPr>
            <a:r>
              <a:rPr lang="en-US" sz="1800" b="1" dirty="0">
                <a:solidFill>
                  <a:srgbClr val="C4A265"/>
                </a:solidFill>
                <a:latin typeface="Cambria" pitchFamily="34" charset="0"/>
                <a:ea typeface="Cambria" pitchFamily="34" charset="-122"/>
                <a:cs typeface="Cambria" pitchFamily="34" charset="-120"/>
              </a:rPr>
              <a:t>03</a:t>
            </a:r>
            <a:endParaRPr lang="en-US" sz="1800" dirty="0"/>
          </a:p>
        </p:txBody>
      </p:sp>
      <p:sp>
        <p:nvSpPr>
          <p:cNvPr id="15" name="Text 13"/>
          <p:cNvSpPr/>
          <p:nvPr/>
        </p:nvSpPr>
        <p:spPr>
          <a:xfrm>
            <a:off x="1115568" y="2852928"/>
            <a:ext cx="3246120" cy="274320"/>
          </a:xfrm>
          <a:prstGeom prst="rect">
            <a:avLst/>
          </a:prstGeom>
          <a:noFill/>
          <a:ln/>
        </p:spPr>
        <p:txBody>
          <a:bodyPr wrap="square" lIns="0" tIns="0" rIns="0" bIns="0" rtlCol="0" anchor="ctr"/>
          <a:lstStyle/>
          <a:p>
            <a:pPr marL="0" indent="0" algn="l">
              <a:buNone/>
            </a:pPr>
            <a:r>
              <a:rPr lang="en-US" sz="1100" b="1" dirty="0">
                <a:solidFill>
                  <a:srgbClr val="E8C97A"/>
                </a:solidFill>
                <a:latin typeface="Cambria" pitchFamily="34" charset="0"/>
                <a:ea typeface="Cambria" pitchFamily="34" charset="-122"/>
                <a:cs typeface="Cambria" pitchFamily="34" charset="-120"/>
              </a:rPr>
              <a:t>Sand Casting</a:t>
            </a:r>
            <a:endParaRPr lang="en-US" sz="1100" dirty="0"/>
          </a:p>
        </p:txBody>
      </p:sp>
      <p:sp>
        <p:nvSpPr>
          <p:cNvPr id="16" name="Text 14"/>
          <p:cNvSpPr/>
          <p:nvPr/>
        </p:nvSpPr>
        <p:spPr>
          <a:xfrm>
            <a:off x="621792" y="3163824"/>
            <a:ext cx="3767328" cy="621792"/>
          </a:xfrm>
          <a:prstGeom prst="rect">
            <a:avLst/>
          </a:prstGeom>
          <a:noFill/>
          <a:ln/>
        </p:spPr>
        <p:txBody>
          <a:bodyPr wrap="square" lIns="0" tIns="0" rIns="0" bIns="0" rtlCol="0" anchor="t"/>
          <a:lstStyle/>
          <a:p>
            <a:pPr marL="0" indent="0" algn="l">
              <a:buNone/>
            </a:pPr>
            <a:r>
              <a:rPr lang="en-US" sz="900" dirty="0">
                <a:solidFill>
                  <a:srgbClr val="EDE0C4"/>
                </a:solidFill>
                <a:latin typeface="Cambria" pitchFamily="34" charset="0"/>
                <a:ea typeface="Cambria" pitchFamily="34" charset="-122"/>
                <a:cs typeface="Cambria" pitchFamily="34" charset="-120"/>
              </a:rPr>
              <a:t>The pattern is pressed into specially compacted foundry sand to create a negative mould. Molten silicon bronze (approximately 950°C) is poured into the mould cavity. Once cooled and solidified, the casting is broken from the sand mould and the rough casting is extracted.</a:t>
            </a:r>
            <a:endParaRPr lang="en-US" sz="900" dirty="0"/>
          </a:p>
        </p:txBody>
      </p:sp>
      <p:sp>
        <p:nvSpPr>
          <p:cNvPr id="17" name="Shape 15"/>
          <p:cNvSpPr/>
          <p:nvPr/>
        </p:nvSpPr>
        <p:spPr>
          <a:xfrm>
            <a:off x="4754880" y="2743200"/>
            <a:ext cx="4069080" cy="1115568"/>
          </a:xfrm>
          <a:prstGeom prst="roundRect">
            <a:avLst>
              <a:gd name="adj" fmla="val 5738"/>
            </a:avLst>
          </a:prstGeom>
          <a:solidFill>
            <a:srgbClr val="3D2B0F"/>
          </a:solidFill>
          <a:ln w="12700">
            <a:solidFill>
              <a:srgbClr val="8B6914"/>
            </a:solidFill>
            <a:prstDash val="solid"/>
          </a:ln>
          <a:effectLst>
            <a:outerShdw blurRad="127000" dist="38100" dir="2700000" algn="bl" rotWithShape="0">
              <a:srgbClr val="000000">
                <a:alpha val="35000"/>
              </a:srgbClr>
            </a:outerShdw>
          </a:effectLst>
        </p:spPr>
      </p:sp>
      <p:sp>
        <p:nvSpPr>
          <p:cNvPr id="18" name="Text 16"/>
          <p:cNvSpPr/>
          <p:nvPr/>
        </p:nvSpPr>
        <p:spPr>
          <a:xfrm>
            <a:off x="4919472" y="2834640"/>
            <a:ext cx="502920" cy="320040"/>
          </a:xfrm>
          <a:prstGeom prst="rect">
            <a:avLst/>
          </a:prstGeom>
          <a:noFill/>
          <a:ln/>
        </p:spPr>
        <p:txBody>
          <a:bodyPr wrap="square" lIns="0" tIns="0" rIns="0" bIns="0" rtlCol="0" anchor="ctr"/>
          <a:lstStyle/>
          <a:p>
            <a:pPr marL="0" indent="0" algn="l">
              <a:buNone/>
            </a:pPr>
            <a:r>
              <a:rPr lang="en-US" sz="1800" b="1" dirty="0">
                <a:solidFill>
                  <a:srgbClr val="C4A265"/>
                </a:solidFill>
                <a:latin typeface="Cambria" pitchFamily="34" charset="0"/>
                <a:ea typeface="Cambria" pitchFamily="34" charset="-122"/>
                <a:cs typeface="Cambria" pitchFamily="34" charset="-120"/>
              </a:rPr>
              <a:t>04</a:t>
            </a:r>
            <a:endParaRPr lang="en-US" sz="1800" dirty="0"/>
          </a:p>
        </p:txBody>
      </p:sp>
      <p:sp>
        <p:nvSpPr>
          <p:cNvPr id="19" name="Text 17"/>
          <p:cNvSpPr/>
          <p:nvPr/>
        </p:nvSpPr>
        <p:spPr>
          <a:xfrm>
            <a:off x="5413248" y="2852928"/>
            <a:ext cx="3246120" cy="274320"/>
          </a:xfrm>
          <a:prstGeom prst="rect">
            <a:avLst/>
          </a:prstGeom>
          <a:noFill/>
          <a:ln/>
        </p:spPr>
        <p:txBody>
          <a:bodyPr wrap="square" lIns="0" tIns="0" rIns="0" bIns="0" rtlCol="0" anchor="ctr"/>
          <a:lstStyle/>
          <a:p>
            <a:pPr marL="0" indent="0" algn="l">
              <a:buNone/>
            </a:pPr>
            <a:r>
              <a:rPr lang="en-US" sz="1100" b="1" dirty="0">
                <a:solidFill>
                  <a:srgbClr val="E8C97A"/>
                </a:solidFill>
                <a:latin typeface="Cambria" pitchFamily="34" charset="0"/>
                <a:ea typeface="Cambria" pitchFamily="34" charset="-122"/>
                <a:cs typeface="Cambria" pitchFamily="34" charset="-120"/>
              </a:rPr>
              <a:t>Finishing &amp; Chasing</a:t>
            </a:r>
            <a:endParaRPr lang="en-US" sz="1100" dirty="0"/>
          </a:p>
        </p:txBody>
      </p:sp>
      <p:sp>
        <p:nvSpPr>
          <p:cNvPr id="20" name="Text 18"/>
          <p:cNvSpPr/>
          <p:nvPr/>
        </p:nvSpPr>
        <p:spPr>
          <a:xfrm>
            <a:off x="4919472" y="3163824"/>
            <a:ext cx="3767328" cy="621792"/>
          </a:xfrm>
          <a:prstGeom prst="rect">
            <a:avLst/>
          </a:prstGeom>
          <a:noFill/>
          <a:ln/>
        </p:spPr>
        <p:txBody>
          <a:bodyPr wrap="square" lIns="0" tIns="0" rIns="0" bIns="0" rtlCol="0" anchor="t"/>
          <a:lstStyle/>
          <a:p>
            <a:pPr marL="0" indent="0" algn="l">
              <a:buNone/>
            </a:pPr>
            <a:r>
              <a:rPr lang="en-US" sz="900" dirty="0">
                <a:solidFill>
                  <a:srgbClr val="EDE0C4"/>
                </a:solidFill>
                <a:latin typeface="Cambria" pitchFamily="34" charset="0"/>
                <a:ea typeface="Cambria" pitchFamily="34" charset="-122"/>
                <a:cs typeface="Cambria" pitchFamily="34" charset="-120"/>
              </a:rPr>
              <a:t>The raw casting is shot-blasted to remove surface scale. A skilled chaser refines the relief surfaces with hand tools — sharpening the edges of the elephant, the mountain profile, and the letterforms. Any casting imperfections are repaired at this stage.</a:t>
            </a:r>
            <a:endParaRPr lang="en-US" sz="900" dirty="0"/>
          </a:p>
        </p:txBody>
      </p:sp>
      <p:sp>
        <p:nvSpPr>
          <p:cNvPr id="21" name="Shape 19"/>
          <p:cNvSpPr/>
          <p:nvPr/>
        </p:nvSpPr>
        <p:spPr>
          <a:xfrm>
            <a:off x="457200" y="3977640"/>
            <a:ext cx="4069080" cy="1115568"/>
          </a:xfrm>
          <a:prstGeom prst="roundRect">
            <a:avLst>
              <a:gd name="adj" fmla="val 5738"/>
            </a:avLst>
          </a:prstGeom>
          <a:solidFill>
            <a:srgbClr val="3D2B0F"/>
          </a:solidFill>
          <a:ln w="12700">
            <a:solidFill>
              <a:srgbClr val="8B6914"/>
            </a:solidFill>
            <a:prstDash val="solid"/>
          </a:ln>
          <a:effectLst>
            <a:outerShdw blurRad="127000" dist="38100" dir="2700000" algn="bl" rotWithShape="0">
              <a:srgbClr val="000000">
                <a:alpha val="35000"/>
              </a:srgbClr>
            </a:outerShdw>
          </a:effectLst>
        </p:spPr>
      </p:sp>
      <p:sp>
        <p:nvSpPr>
          <p:cNvPr id="22" name="Text 20"/>
          <p:cNvSpPr/>
          <p:nvPr/>
        </p:nvSpPr>
        <p:spPr>
          <a:xfrm>
            <a:off x="621792" y="4069080"/>
            <a:ext cx="502920" cy="320040"/>
          </a:xfrm>
          <a:prstGeom prst="rect">
            <a:avLst/>
          </a:prstGeom>
          <a:noFill/>
          <a:ln/>
        </p:spPr>
        <p:txBody>
          <a:bodyPr wrap="square" lIns="0" tIns="0" rIns="0" bIns="0" rtlCol="0" anchor="ctr"/>
          <a:lstStyle/>
          <a:p>
            <a:pPr marL="0" indent="0" algn="l">
              <a:buNone/>
            </a:pPr>
            <a:r>
              <a:rPr lang="en-US" sz="1800" b="1" dirty="0">
                <a:solidFill>
                  <a:srgbClr val="C4A265"/>
                </a:solidFill>
                <a:latin typeface="Cambria" pitchFamily="34" charset="0"/>
                <a:ea typeface="Cambria" pitchFamily="34" charset="-122"/>
                <a:cs typeface="Cambria" pitchFamily="34" charset="-120"/>
              </a:rPr>
              <a:t>05</a:t>
            </a:r>
            <a:endParaRPr lang="en-US" sz="1800" dirty="0"/>
          </a:p>
        </p:txBody>
      </p:sp>
      <p:sp>
        <p:nvSpPr>
          <p:cNvPr id="23" name="Text 21"/>
          <p:cNvSpPr/>
          <p:nvPr/>
        </p:nvSpPr>
        <p:spPr>
          <a:xfrm>
            <a:off x="1115568" y="4087368"/>
            <a:ext cx="3246120" cy="274320"/>
          </a:xfrm>
          <a:prstGeom prst="rect">
            <a:avLst/>
          </a:prstGeom>
          <a:noFill/>
          <a:ln/>
        </p:spPr>
        <p:txBody>
          <a:bodyPr wrap="square" lIns="0" tIns="0" rIns="0" bIns="0" rtlCol="0" anchor="ctr"/>
          <a:lstStyle/>
          <a:p>
            <a:pPr marL="0" indent="0" algn="l">
              <a:buNone/>
            </a:pPr>
            <a:r>
              <a:rPr lang="en-US" sz="1100" b="1" dirty="0">
                <a:solidFill>
                  <a:srgbClr val="E8C97A"/>
                </a:solidFill>
                <a:latin typeface="Cambria" pitchFamily="34" charset="0"/>
                <a:ea typeface="Cambria" pitchFamily="34" charset="-122"/>
                <a:cs typeface="Cambria" pitchFamily="34" charset="-120"/>
              </a:rPr>
              <a:t>Patination</a:t>
            </a:r>
            <a:endParaRPr lang="en-US" sz="1100" dirty="0"/>
          </a:p>
        </p:txBody>
      </p:sp>
      <p:sp>
        <p:nvSpPr>
          <p:cNvPr id="24" name="Text 22"/>
          <p:cNvSpPr/>
          <p:nvPr/>
        </p:nvSpPr>
        <p:spPr>
          <a:xfrm>
            <a:off x="621792" y="4398264"/>
            <a:ext cx="3767328" cy="621792"/>
          </a:xfrm>
          <a:prstGeom prst="rect">
            <a:avLst/>
          </a:prstGeom>
          <a:noFill/>
          <a:ln/>
        </p:spPr>
        <p:txBody>
          <a:bodyPr wrap="square" lIns="0" tIns="0" rIns="0" bIns="0" rtlCol="0" anchor="t"/>
          <a:lstStyle/>
          <a:p>
            <a:pPr marL="0" indent="0" algn="l">
              <a:buNone/>
            </a:pPr>
            <a:r>
              <a:rPr lang="en-US" sz="900" dirty="0">
                <a:solidFill>
                  <a:srgbClr val="EDE0C4"/>
                </a:solidFill>
                <a:latin typeface="Cambria" pitchFamily="34" charset="0"/>
                <a:ea typeface="Cambria" pitchFamily="34" charset="-122"/>
                <a:cs typeface="Cambria" pitchFamily="34" charset="-120"/>
              </a:rPr>
              <a:t>The background is treated with liver of sulphur (ammonium polysulphide) solution, applied by brush or dip, to develop the dark brown-black patina. The raised surfaces are then carefully hand-polished back to bright bronze using progressively finer abrasive papers.</a:t>
            </a:r>
            <a:endParaRPr lang="en-US" sz="900" dirty="0"/>
          </a:p>
        </p:txBody>
      </p:sp>
      <p:sp>
        <p:nvSpPr>
          <p:cNvPr id="25" name="Shape 23"/>
          <p:cNvSpPr/>
          <p:nvPr/>
        </p:nvSpPr>
        <p:spPr>
          <a:xfrm>
            <a:off x="4754880" y="3977640"/>
            <a:ext cx="4069080" cy="1115568"/>
          </a:xfrm>
          <a:prstGeom prst="roundRect">
            <a:avLst>
              <a:gd name="adj" fmla="val 5738"/>
            </a:avLst>
          </a:prstGeom>
          <a:solidFill>
            <a:srgbClr val="3D2B0F"/>
          </a:solidFill>
          <a:ln w="12700">
            <a:solidFill>
              <a:srgbClr val="8B6914"/>
            </a:solidFill>
            <a:prstDash val="solid"/>
          </a:ln>
          <a:effectLst>
            <a:outerShdw blurRad="127000" dist="38100" dir="2700000" algn="bl" rotWithShape="0">
              <a:srgbClr val="000000">
                <a:alpha val="35000"/>
              </a:srgbClr>
            </a:outerShdw>
          </a:effectLst>
        </p:spPr>
      </p:sp>
      <p:sp>
        <p:nvSpPr>
          <p:cNvPr id="26" name="Text 24"/>
          <p:cNvSpPr/>
          <p:nvPr/>
        </p:nvSpPr>
        <p:spPr>
          <a:xfrm>
            <a:off x="4919472" y="4069080"/>
            <a:ext cx="502920" cy="320040"/>
          </a:xfrm>
          <a:prstGeom prst="rect">
            <a:avLst/>
          </a:prstGeom>
          <a:noFill/>
          <a:ln/>
        </p:spPr>
        <p:txBody>
          <a:bodyPr wrap="square" lIns="0" tIns="0" rIns="0" bIns="0" rtlCol="0" anchor="ctr"/>
          <a:lstStyle/>
          <a:p>
            <a:pPr marL="0" indent="0" algn="l">
              <a:buNone/>
            </a:pPr>
            <a:r>
              <a:rPr lang="en-US" sz="1800" b="1" dirty="0">
                <a:solidFill>
                  <a:srgbClr val="C4A265"/>
                </a:solidFill>
                <a:latin typeface="Cambria" pitchFamily="34" charset="0"/>
                <a:ea typeface="Cambria" pitchFamily="34" charset="-122"/>
                <a:cs typeface="Cambria" pitchFamily="34" charset="-120"/>
              </a:rPr>
              <a:t>06</a:t>
            </a:r>
            <a:endParaRPr lang="en-US" sz="1800" dirty="0"/>
          </a:p>
        </p:txBody>
      </p:sp>
      <p:sp>
        <p:nvSpPr>
          <p:cNvPr id="27" name="Text 25"/>
          <p:cNvSpPr/>
          <p:nvPr/>
        </p:nvSpPr>
        <p:spPr>
          <a:xfrm>
            <a:off x="5413248" y="4087368"/>
            <a:ext cx="3246120" cy="274320"/>
          </a:xfrm>
          <a:prstGeom prst="rect">
            <a:avLst/>
          </a:prstGeom>
          <a:noFill/>
          <a:ln/>
        </p:spPr>
        <p:txBody>
          <a:bodyPr wrap="square" lIns="0" tIns="0" rIns="0" bIns="0" rtlCol="0" anchor="ctr"/>
          <a:lstStyle/>
          <a:p>
            <a:pPr marL="0" indent="0" algn="l">
              <a:buNone/>
            </a:pPr>
            <a:r>
              <a:rPr lang="en-US" sz="1100" b="1" dirty="0">
                <a:solidFill>
                  <a:srgbClr val="E8C97A"/>
                </a:solidFill>
                <a:latin typeface="Cambria" pitchFamily="34" charset="0"/>
                <a:ea typeface="Cambria" pitchFamily="34" charset="-122"/>
                <a:cs typeface="Cambria" pitchFamily="34" charset="-120"/>
              </a:rPr>
              <a:t>Sealing &amp; Installation</a:t>
            </a:r>
            <a:endParaRPr lang="en-US" sz="1100" dirty="0"/>
          </a:p>
        </p:txBody>
      </p:sp>
      <p:sp>
        <p:nvSpPr>
          <p:cNvPr id="28" name="Text 26"/>
          <p:cNvSpPr/>
          <p:nvPr/>
        </p:nvSpPr>
        <p:spPr>
          <a:xfrm>
            <a:off x="4919472" y="4398264"/>
            <a:ext cx="3767328" cy="621792"/>
          </a:xfrm>
          <a:prstGeom prst="rect">
            <a:avLst/>
          </a:prstGeom>
          <a:noFill/>
          <a:ln/>
        </p:spPr>
        <p:txBody>
          <a:bodyPr wrap="square" lIns="0" tIns="0" rIns="0" bIns="0" rtlCol="0" anchor="t"/>
          <a:lstStyle/>
          <a:p>
            <a:pPr marL="0" indent="0" algn="l">
              <a:buNone/>
            </a:pPr>
            <a:r>
              <a:rPr lang="en-US" sz="900" dirty="0">
                <a:solidFill>
                  <a:srgbClr val="EDE0C4"/>
                </a:solidFill>
                <a:latin typeface="Cambria" pitchFamily="34" charset="0"/>
                <a:ea typeface="Cambria" pitchFamily="34" charset="-122"/>
                <a:cs typeface="Cambria" pitchFamily="34" charset="-120"/>
              </a:rPr>
              <a:t>A clear lacquer (Renaissance Wax or equivalent) is applied to the polished surfaces to retard future oxidation. The plaque is drilled, the brass frame attached, and the completed piece shipped flat in protective foam. Installation by a qualified stonemason into the prepared stone wall.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208"/>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marL="0" indent="0" algn="l">
              <a:buNone/>
            </a:pPr>
            <a:r>
              <a:rPr lang="en-US" sz="900" kern="0" spc="500" dirty="0">
                <a:solidFill>
                  <a:srgbClr val="C4A265"/>
                </a:solidFill>
                <a:latin typeface="Cambria" pitchFamily="34" charset="0"/>
                <a:ea typeface="Cambria" pitchFamily="34" charset="-122"/>
                <a:cs typeface="Cambria" pitchFamily="34" charset="-120"/>
              </a:rPr>
              <a:t>07  /  DIMENSIONS &amp; PLACEMENT</a:t>
            </a:r>
            <a:endParaRPr lang="en-US" sz="900" dirty="0"/>
          </a:p>
        </p:txBody>
      </p:sp>
      <p:sp>
        <p:nvSpPr>
          <p:cNvPr id="3" name="Text 1"/>
          <p:cNvSpPr/>
          <p:nvPr/>
        </p:nvSpPr>
        <p:spPr>
          <a:xfrm>
            <a:off x="457200" y="685800"/>
            <a:ext cx="8229600" cy="594360"/>
          </a:xfrm>
          <a:prstGeom prst="rect">
            <a:avLst/>
          </a:prstGeom>
          <a:noFill/>
          <a:ln/>
        </p:spPr>
        <p:txBody>
          <a:bodyPr wrap="square" lIns="0" tIns="0" rIns="0" bIns="0" rtlCol="0" anchor="ctr"/>
          <a:lstStyle/>
          <a:p>
            <a:pPr marL="0" indent="0" algn="l">
              <a:buNone/>
            </a:pPr>
            <a:r>
              <a:rPr lang="en-US" sz="3400" b="1" dirty="0">
                <a:solidFill>
                  <a:srgbClr val="F5EDD8"/>
                </a:solidFill>
                <a:latin typeface="Cambria" pitchFamily="34" charset="0"/>
                <a:ea typeface="Cambria" pitchFamily="34" charset="-122"/>
                <a:cs typeface="Cambria" pitchFamily="34" charset="-120"/>
              </a:rPr>
              <a:t>Size, Placement &amp; Timeline</a:t>
            </a:r>
            <a:endParaRPr lang="en-US" sz="3400" dirty="0"/>
          </a:p>
        </p:txBody>
      </p:sp>
      <p:sp>
        <p:nvSpPr>
          <p:cNvPr id="4" name="Shape 2"/>
          <p:cNvSpPr/>
          <p:nvPr/>
        </p:nvSpPr>
        <p:spPr>
          <a:xfrm>
            <a:off x="457200" y="1371600"/>
            <a:ext cx="8229600" cy="18288"/>
          </a:xfrm>
          <a:prstGeom prst="rect">
            <a:avLst/>
          </a:prstGeom>
          <a:solidFill>
            <a:srgbClr val="8B6914"/>
          </a:solidFill>
          <a:ln w="12700">
            <a:solidFill>
              <a:srgbClr val="8B6914"/>
            </a:solidFill>
            <a:prstDash val="solid"/>
          </a:ln>
        </p:spPr>
      </p:sp>
      <p:sp>
        <p:nvSpPr>
          <p:cNvPr id="5" name="Shape 3"/>
          <p:cNvSpPr/>
          <p:nvPr/>
        </p:nvSpPr>
        <p:spPr>
          <a:xfrm>
            <a:off x="457200" y="1508760"/>
            <a:ext cx="4023360" cy="3200400"/>
          </a:xfrm>
          <a:prstGeom prst="roundRect">
            <a:avLst>
              <a:gd name="adj" fmla="val 2286"/>
            </a:avLst>
          </a:prstGeom>
          <a:solidFill>
            <a:srgbClr val="3D2B0F"/>
          </a:solidFill>
          <a:ln w="12700">
            <a:solidFill>
              <a:srgbClr val="8B6914"/>
            </a:solidFill>
            <a:prstDash val="solid"/>
          </a:ln>
          <a:effectLst>
            <a:outerShdw blurRad="127000" dist="38100" dir="2700000" algn="bl" rotWithShape="0">
              <a:srgbClr val="000000">
                <a:alpha val="35000"/>
              </a:srgbClr>
            </a:outerShdw>
          </a:effectLst>
        </p:spPr>
      </p:sp>
      <p:sp>
        <p:nvSpPr>
          <p:cNvPr id="6" name="Text 4"/>
          <p:cNvSpPr/>
          <p:nvPr/>
        </p:nvSpPr>
        <p:spPr>
          <a:xfrm>
            <a:off x="640080" y="1691640"/>
            <a:ext cx="3657600" cy="256032"/>
          </a:xfrm>
          <a:prstGeom prst="rect">
            <a:avLst/>
          </a:prstGeom>
          <a:noFill/>
          <a:ln/>
        </p:spPr>
        <p:txBody>
          <a:bodyPr wrap="square" lIns="0" tIns="0" rIns="0" bIns="0" rtlCol="0" anchor="ctr"/>
          <a:lstStyle/>
          <a:p>
            <a:pPr marL="0" indent="0" algn="l">
              <a:buNone/>
            </a:pPr>
            <a:r>
              <a:rPr lang="en-US" sz="900" b="1" kern="0" spc="200" dirty="0">
                <a:solidFill>
                  <a:srgbClr val="C4A265"/>
                </a:solidFill>
                <a:latin typeface="Cambria" pitchFamily="34" charset="0"/>
                <a:ea typeface="Cambria" pitchFamily="34" charset="-122"/>
                <a:cs typeface="Cambria" pitchFamily="34" charset="-120"/>
              </a:rPr>
              <a:t>RECOMMENDED DIMENSIONS</a:t>
            </a:r>
            <a:endParaRPr lang="en-US" sz="900" dirty="0"/>
          </a:p>
        </p:txBody>
      </p:sp>
      <p:sp>
        <p:nvSpPr>
          <p:cNvPr id="7" name="Text 5"/>
          <p:cNvSpPr/>
          <p:nvPr/>
        </p:nvSpPr>
        <p:spPr>
          <a:xfrm>
            <a:off x="640080" y="2057400"/>
            <a:ext cx="2011680" cy="274320"/>
          </a:xfrm>
          <a:prstGeom prst="rect">
            <a:avLst/>
          </a:prstGeom>
          <a:noFill/>
          <a:ln/>
        </p:spPr>
        <p:txBody>
          <a:bodyPr wrap="square" lIns="0" tIns="0" rIns="0" bIns="0" rtlCol="0" anchor="ctr"/>
          <a:lstStyle/>
          <a:p>
            <a:pPr marL="0" indent="0" algn="l">
              <a:buNone/>
            </a:pPr>
            <a:r>
              <a:rPr lang="en-US" sz="1000" dirty="0">
                <a:solidFill>
                  <a:srgbClr val="8C7B6B"/>
                </a:solidFill>
                <a:latin typeface="Cambria" pitchFamily="34" charset="0"/>
                <a:ea typeface="Cambria" pitchFamily="34" charset="-122"/>
                <a:cs typeface="Cambria" pitchFamily="34" charset="-120"/>
              </a:rPr>
              <a:t>Plaque width</a:t>
            </a:r>
            <a:endParaRPr lang="en-US" sz="1000" dirty="0"/>
          </a:p>
        </p:txBody>
      </p:sp>
      <p:sp>
        <p:nvSpPr>
          <p:cNvPr id="8" name="Text 6"/>
          <p:cNvSpPr/>
          <p:nvPr/>
        </p:nvSpPr>
        <p:spPr>
          <a:xfrm>
            <a:off x="2743200" y="2057400"/>
            <a:ext cx="1645920" cy="274320"/>
          </a:xfrm>
          <a:prstGeom prst="rect">
            <a:avLst/>
          </a:prstGeom>
          <a:noFill/>
          <a:ln/>
        </p:spPr>
        <p:txBody>
          <a:bodyPr wrap="square" lIns="0" tIns="0" rIns="0" bIns="0" rtlCol="0" anchor="ctr"/>
          <a:lstStyle/>
          <a:p>
            <a:pPr marL="0" indent="0" algn="r">
              <a:buNone/>
            </a:pPr>
            <a:r>
              <a:rPr lang="en-US" sz="1000" b="1" dirty="0">
                <a:solidFill>
                  <a:srgbClr val="F5EDD8"/>
                </a:solidFill>
                <a:latin typeface="Cambria" pitchFamily="34" charset="0"/>
                <a:ea typeface="Cambria" pitchFamily="34" charset="-122"/>
                <a:cs typeface="Cambria" pitchFamily="34" charset="-120"/>
              </a:rPr>
              <a:t>600mm  (approx. 24")</a:t>
            </a:r>
            <a:endParaRPr lang="en-US" sz="1000" dirty="0"/>
          </a:p>
        </p:txBody>
      </p:sp>
      <p:sp>
        <p:nvSpPr>
          <p:cNvPr id="9" name="Shape 7"/>
          <p:cNvSpPr/>
          <p:nvPr/>
        </p:nvSpPr>
        <p:spPr>
          <a:xfrm>
            <a:off x="640080" y="2331720"/>
            <a:ext cx="3657600" cy="9144"/>
          </a:xfrm>
          <a:prstGeom prst="rect">
            <a:avLst/>
          </a:prstGeom>
          <a:solidFill>
            <a:srgbClr val="8B6914"/>
          </a:solidFill>
          <a:ln w="12700">
            <a:solidFill>
              <a:srgbClr val="8B6914"/>
            </a:solidFill>
            <a:prstDash val="solid"/>
          </a:ln>
        </p:spPr>
      </p:sp>
      <p:sp>
        <p:nvSpPr>
          <p:cNvPr id="10" name="Text 8"/>
          <p:cNvSpPr/>
          <p:nvPr/>
        </p:nvSpPr>
        <p:spPr>
          <a:xfrm>
            <a:off x="640080" y="2377440"/>
            <a:ext cx="2011680" cy="274320"/>
          </a:xfrm>
          <a:prstGeom prst="rect">
            <a:avLst/>
          </a:prstGeom>
          <a:noFill/>
          <a:ln/>
        </p:spPr>
        <p:txBody>
          <a:bodyPr wrap="square" lIns="0" tIns="0" rIns="0" bIns="0" rtlCol="0" anchor="ctr"/>
          <a:lstStyle/>
          <a:p>
            <a:pPr marL="0" indent="0" algn="l">
              <a:buNone/>
            </a:pPr>
            <a:r>
              <a:rPr lang="en-US" sz="1000" dirty="0">
                <a:solidFill>
                  <a:srgbClr val="8C7B6B"/>
                </a:solidFill>
                <a:latin typeface="Cambria" pitchFamily="34" charset="0"/>
                <a:ea typeface="Cambria" pitchFamily="34" charset="-122"/>
                <a:cs typeface="Cambria" pitchFamily="34" charset="-120"/>
              </a:rPr>
              <a:t>Plaque height</a:t>
            </a:r>
            <a:endParaRPr lang="en-US" sz="1000" dirty="0"/>
          </a:p>
        </p:txBody>
      </p:sp>
      <p:sp>
        <p:nvSpPr>
          <p:cNvPr id="11" name="Text 9"/>
          <p:cNvSpPr/>
          <p:nvPr/>
        </p:nvSpPr>
        <p:spPr>
          <a:xfrm>
            <a:off x="2743200" y="2377440"/>
            <a:ext cx="1645920" cy="274320"/>
          </a:xfrm>
          <a:prstGeom prst="rect">
            <a:avLst/>
          </a:prstGeom>
          <a:noFill/>
          <a:ln/>
        </p:spPr>
        <p:txBody>
          <a:bodyPr wrap="square" lIns="0" tIns="0" rIns="0" bIns="0" rtlCol="0" anchor="ctr"/>
          <a:lstStyle/>
          <a:p>
            <a:pPr marL="0" indent="0" algn="r">
              <a:buNone/>
            </a:pPr>
            <a:r>
              <a:rPr lang="en-US" sz="1000" b="1" dirty="0">
                <a:solidFill>
                  <a:srgbClr val="F5EDD8"/>
                </a:solidFill>
                <a:latin typeface="Cambria" pitchFamily="34" charset="0"/>
                <a:ea typeface="Cambria" pitchFamily="34" charset="-122"/>
                <a:cs typeface="Cambria" pitchFamily="34" charset="-120"/>
              </a:rPr>
              <a:t>450mm  (approx. 18")</a:t>
            </a:r>
            <a:endParaRPr lang="en-US" sz="1000" dirty="0"/>
          </a:p>
        </p:txBody>
      </p:sp>
      <p:sp>
        <p:nvSpPr>
          <p:cNvPr id="12" name="Shape 10"/>
          <p:cNvSpPr/>
          <p:nvPr/>
        </p:nvSpPr>
        <p:spPr>
          <a:xfrm>
            <a:off x="640080" y="2651760"/>
            <a:ext cx="3657600" cy="9144"/>
          </a:xfrm>
          <a:prstGeom prst="rect">
            <a:avLst/>
          </a:prstGeom>
          <a:solidFill>
            <a:srgbClr val="8B6914"/>
          </a:solidFill>
          <a:ln w="12700">
            <a:solidFill>
              <a:srgbClr val="8B6914"/>
            </a:solidFill>
            <a:prstDash val="solid"/>
          </a:ln>
        </p:spPr>
      </p:sp>
      <p:sp>
        <p:nvSpPr>
          <p:cNvPr id="13" name="Text 11"/>
          <p:cNvSpPr/>
          <p:nvPr/>
        </p:nvSpPr>
        <p:spPr>
          <a:xfrm>
            <a:off x="640080" y="2697480"/>
            <a:ext cx="2011680" cy="274320"/>
          </a:xfrm>
          <a:prstGeom prst="rect">
            <a:avLst/>
          </a:prstGeom>
          <a:noFill/>
          <a:ln/>
        </p:spPr>
        <p:txBody>
          <a:bodyPr wrap="square" lIns="0" tIns="0" rIns="0" bIns="0" rtlCol="0" anchor="ctr"/>
          <a:lstStyle/>
          <a:p>
            <a:pPr marL="0" indent="0" algn="l">
              <a:buNone/>
            </a:pPr>
            <a:r>
              <a:rPr lang="en-US" sz="1000" dirty="0">
                <a:solidFill>
                  <a:srgbClr val="8C7B6B"/>
                </a:solidFill>
                <a:latin typeface="Cambria" pitchFamily="34" charset="0"/>
                <a:ea typeface="Cambria" pitchFamily="34" charset="-122"/>
                <a:cs typeface="Cambria" pitchFamily="34" charset="-120"/>
              </a:rPr>
              <a:t>Relief depth — artwork</a:t>
            </a:r>
            <a:endParaRPr lang="en-US" sz="1000" dirty="0"/>
          </a:p>
        </p:txBody>
      </p:sp>
      <p:sp>
        <p:nvSpPr>
          <p:cNvPr id="14" name="Text 12"/>
          <p:cNvSpPr/>
          <p:nvPr/>
        </p:nvSpPr>
        <p:spPr>
          <a:xfrm>
            <a:off x="2743200" y="2697480"/>
            <a:ext cx="1645920" cy="274320"/>
          </a:xfrm>
          <a:prstGeom prst="rect">
            <a:avLst/>
          </a:prstGeom>
          <a:noFill/>
          <a:ln/>
        </p:spPr>
        <p:txBody>
          <a:bodyPr wrap="square" lIns="0" tIns="0" rIns="0" bIns="0" rtlCol="0" anchor="ctr"/>
          <a:lstStyle/>
          <a:p>
            <a:pPr marL="0" indent="0" algn="r">
              <a:buNone/>
            </a:pPr>
            <a:r>
              <a:rPr lang="en-US" sz="1000" b="1" dirty="0">
                <a:solidFill>
                  <a:srgbClr val="F5EDD8"/>
                </a:solidFill>
                <a:latin typeface="Cambria" pitchFamily="34" charset="0"/>
                <a:ea typeface="Cambria" pitchFamily="34" charset="-122"/>
                <a:cs typeface="Cambria" pitchFamily="34" charset="-120"/>
              </a:rPr>
              <a:t>4–6mm</a:t>
            </a:r>
            <a:endParaRPr lang="en-US" sz="1000" dirty="0"/>
          </a:p>
        </p:txBody>
      </p:sp>
      <p:sp>
        <p:nvSpPr>
          <p:cNvPr id="15" name="Shape 13"/>
          <p:cNvSpPr/>
          <p:nvPr/>
        </p:nvSpPr>
        <p:spPr>
          <a:xfrm>
            <a:off x="640080" y="2971800"/>
            <a:ext cx="3657600" cy="9144"/>
          </a:xfrm>
          <a:prstGeom prst="rect">
            <a:avLst/>
          </a:prstGeom>
          <a:solidFill>
            <a:srgbClr val="8B6914"/>
          </a:solidFill>
          <a:ln w="12700">
            <a:solidFill>
              <a:srgbClr val="8B6914"/>
            </a:solidFill>
            <a:prstDash val="solid"/>
          </a:ln>
        </p:spPr>
      </p:sp>
      <p:sp>
        <p:nvSpPr>
          <p:cNvPr id="16" name="Text 14"/>
          <p:cNvSpPr/>
          <p:nvPr/>
        </p:nvSpPr>
        <p:spPr>
          <a:xfrm>
            <a:off x="640080" y="3017520"/>
            <a:ext cx="2011680" cy="274320"/>
          </a:xfrm>
          <a:prstGeom prst="rect">
            <a:avLst/>
          </a:prstGeom>
          <a:noFill/>
          <a:ln/>
        </p:spPr>
        <p:txBody>
          <a:bodyPr wrap="square" lIns="0" tIns="0" rIns="0" bIns="0" rtlCol="0" anchor="ctr"/>
          <a:lstStyle/>
          <a:p>
            <a:pPr marL="0" indent="0" algn="l">
              <a:buNone/>
            </a:pPr>
            <a:r>
              <a:rPr lang="en-US" sz="1000" dirty="0">
                <a:solidFill>
                  <a:srgbClr val="8C7B6B"/>
                </a:solidFill>
                <a:latin typeface="Cambria" pitchFamily="34" charset="0"/>
                <a:ea typeface="Cambria" pitchFamily="34" charset="-122"/>
                <a:cs typeface="Cambria" pitchFamily="34" charset="-120"/>
              </a:rPr>
              <a:t>Relief depth — lettering</a:t>
            </a:r>
            <a:endParaRPr lang="en-US" sz="1000" dirty="0"/>
          </a:p>
        </p:txBody>
      </p:sp>
      <p:sp>
        <p:nvSpPr>
          <p:cNvPr id="17" name="Text 15"/>
          <p:cNvSpPr/>
          <p:nvPr/>
        </p:nvSpPr>
        <p:spPr>
          <a:xfrm>
            <a:off x="2743200" y="3017520"/>
            <a:ext cx="1645920" cy="274320"/>
          </a:xfrm>
          <a:prstGeom prst="rect">
            <a:avLst/>
          </a:prstGeom>
          <a:noFill/>
          <a:ln/>
        </p:spPr>
        <p:txBody>
          <a:bodyPr wrap="square" lIns="0" tIns="0" rIns="0" bIns="0" rtlCol="0" anchor="ctr"/>
          <a:lstStyle/>
          <a:p>
            <a:pPr marL="0" indent="0" algn="r">
              <a:buNone/>
            </a:pPr>
            <a:r>
              <a:rPr lang="en-US" sz="1000" b="1" dirty="0">
                <a:solidFill>
                  <a:srgbClr val="F5EDD8"/>
                </a:solidFill>
                <a:latin typeface="Cambria" pitchFamily="34" charset="0"/>
                <a:ea typeface="Cambria" pitchFamily="34" charset="-122"/>
                <a:cs typeface="Cambria" pitchFamily="34" charset="-120"/>
              </a:rPr>
              <a:t>3mm</a:t>
            </a:r>
            <a:endParaRPr lang="en-US" sz="1000" dirty="0"/>
          </a:p>
        </p:txBody>
      </p:sp>
      <p:sp>
        <p:nvSpPr>
          <p:cNvPr id="18" name="Shape 16"/>
          <p:cNvSpPr/>
          <p:nvPr/>
        </p:nvSpPr>
        <p:spPr>
          <a:xfrm>
            <a:off x="640080" y="3291840"/>
            <a:ext cx="3657600" cy="9144"/>
          </a:xfrm>
          <a:prstGeom prst="rect">
            <a:avLst/>
          </a:prstGeom>
          <a:solidFill>
            <a:srgbClr val="8B6914"/>
          </a:solidFill>
          <a:ln w="12700">
            <a:solidFill>
              <a:srgbClr val="8B6914"/>
            </a:solidFill>
            <a:prstDash val="solid"/>
          </a:ln>
        </p:spPr>
      </p:sp>
      <p:sp>
        <p:nvSpPr>
          <p:cNvPr id="19" name="Text 17"/>
          <p:cNvSpPr/>
          <p:nvPr/>
        </p:nvSpPr>
        <p:spPr>
          <a:xfrm>
            <a:off x="640080" y="3337560"/>
            <a:ext cx="2011680" cy="274320"/>
          </a:xfrm>
          <a:prstGeom prst="rect">
            <a:avLst/>
          </a:prstGeom>
          <a:noFill/>
          <a:ln/>
        </p:spPr>
        <p:txBody>
          <a:bodyPr wrap="square" lIns="0" tIns="0" rIns="0" bIns="0" rtlCol="0" anchor="ctr"/>
          <a:lstStyle/>
          <a:p>
            <a:pPr marL="0" indent="0" algn="l">
              <a:buNone/>
            </a:pPr>
            <a:r>
              <a:rPr lang="en-US" sz="1000" dirty="0">
                <a:solidFill>
                  <a:srgbClr val="8C7B6B"/>
                </a:solidFill>
                <a:latin typeface="Cambria" pitchFamily="34" charset="0"/>
                <a:ea typeface="Cambria" pitchFamily="34" charset="-122"/>
                <a:cs typeface="Cambria" pitchFamily="34" charset="-120"/>
              </a:rPr>
              <a:t>Frame border width</a:t>
            </a:r>
            <a:endParaRPr lang="en-US" sz="1000" dirty="0"/>
          </a:p>
        </p:txBody>
      </p:sp>
      <p:sp>
        <p:nvSpPr>
          <p:cNvPr id="20" name="Text 18"/>
          <p:cNvSpPr/>
          <p:nvPr/>
        </p:nvSpPr>
        <p:spPr>
          <a:xfrm>
            <a:off x="2743200" y="3337560"/>
            <a:ext cx="1645920" cy="274320"/>
          </a:xfrm>
          <a:prstGeom prst="rect">
            <a:avLst/>
          </a:prstGeom>
          <a:noFill/>
          <a:ln/>
        </p:spPr>
        <p:txBody>
          <a:bodyPr wrap="square" lIns="0" tIns="0" rIns="0" bIns="0" rtlCol="0" anchor="ctr"/>
          <a:lstStyle/>
          <a:p>
            <a:pPr marL="0" indent="0" algn="r">
              <a:buNone/>
            </a:pPr>
            <a:r>
              <a:rPr lang="en-US" sz="1000" b="1" dirty="0">
                <a:solidFill>
                  <a:srgbClr val="F5EDD8"/>
                </a:solidFill>
                <a:latin typeface="Cambria" pitchFamily="34" charset="0"/>
                <a:ea typeface="Cambria" pitchFamily="34" charset="-122"/>
                <a:cs typeface="Cambria" pitchFamily="34" charset="-120"/>
              </a:rPr>
              <a:t>10mm</a:t>
            </a:r>
            <a:endParaRPr lang="en-US" sz="1000" dirty="0"/>
          </a:p>
        </p:txBody>
      </p:sp>
      <p:sp>
        <p:nvSpPr>
          <p:cNvPr id="21" name="Shape 19"/>
          <p:cNvSpPr/>
          <p:nvPr/>
        </p:nvSpPr>
        <p:spPr>
          <a:xfrm>
            <a:off x="640080" y="3611880"/>
            <a:ext cx="3657600" cy="9144"/>
          </a:xfrm>
          <a:prstGeom prst="rect">
            <a:avLst/>
          </a:prstGeom>
          <a:solidFill>
            <a:srgbClr val="8B6914"/>
          </a:solidFill>
          <a:ln w="12700">
            <a:solidFill>
              <a:srgbClr val="8B6914"/>
            </a:solidFill>
            <a:prstDash val="solid"/>
          </a:ln>
        </p:spPr>
      </p:sp>
      <p:sp>
        <p:nvSpPr>
          <p:cNvPr id="22" name="Text 20"/>
          <p:cNvSpPr/>
          <p:nvPr/>
        </p:nvSpPr>
        <p:spPr>
          <a:xfrm>
            <a:off x="640080" y="3657600"/>
            <a:ext cx="2011680" cy="274320"/>
          </a:xfrm>
          <a:prstGeom prst="rect">
            <a:avLst/>
          </a:prstGeom>
          <a:noFill/>
          <a:ln/>
        </p:spPr>
        <p:txBody>
          <a:bodyPr wrap="square" lIns="0" tIns="0" rIns="0" bIns="0" rtlCol="0" anchor="ctr"/>
          <a:lstStyle/>
          <a:p>
            <a:pPr marL="0" indent="0" algn="l">
              <a:buNone/>
            </a:pPr>
            <a:r>
              <a:rPr lang="en-US" sz="1000" dirty="0">
                <a:solidFill>
                  <a:srgbClr val="8C7B6B"/>
                </a:solidFill>
                <a:latin typeface="Cambria" pitchFamily="34" charset="0"/>
                <a:ea typeface="Cambria" pitchFamily="34" charset="-122"/>
                <a:cs typeface="Cambria" pitchFamily="34" charset="-120"/>
              </a:rPr>
              <a:t>Overall thickness incl. backing</a:t>
            </a:r>
            <a:endParaRPr lang="en-US" sz="1000" dirty="0"/>
          </a:p>
        </p:txBody>
      </p:sp>
      <p:sp>
        <p:nvSpPr>
          <p:cNvPr id="23" name="Text 21"/>
          <p:cNvSpPr/>
          <p:nvPr/>
        </p:nvSpPr>
        <p:spPr>
          <a:xfrm>
            <a:off x="2743200" y="3657600"/>
            <a:ext cx="1645920" cy="274320"/>
          </a:xfrm>
          <a:prstGeom prst="rect">
            <a:avLst/>
          </a:prstGeom>
          <a:noFill/>
          <a:ln/>
        </p:spPr>
        <p:txBody>
          <a:bodyPr wrap="square" lIns="0" tIns="0" rIns="0" bIns="0" rtlCol="0" anchor="ctr"/>
          <a:lstStyle/>
          <a:p>
            <a:pPr marL="0" indent="0" algn="r">
              <a:buNone/>
            </a:pPr>
            <a:r>
              <a:rPr lang="en-US" sz="1000" b="1" dirty="0">
                <a:solidFill>
                  <a:srgbClr val="F5EDD8"/>
                </a:solidFill>
                <a:latin typeface="Cambria" pitchFamily="34" charset="0"/>
                <a:ea typeface="Cambria" pitchFamily="34" charset="-122"/>
                <a:cs typeface="Cambria" pitchFamily="34" charset="-120"/>
              </a:rPr>
              <a:t>12–15mm</a:t>
            </a:r>
            <a:endParaRPr lang="en-US" sz="1000" dirty="0"/>
          </a:p>
        </p:txBody>
      </p:sp>
      <p:sp>
        <p:nvSpPr>
          <p:cNvPr id="24" name="Shape 22"/>
          <p:cNvSpPr/>
          <p:nvPr/>
        </p:nvSpPr>
        <p:spPr>
          <a:xfrm>
            <a:off x="640080" y="3931920"/>
            <a:ext cx="3657600" cy="9144"/>
          </a:xfrm>
          <a:prstGeom prst="rect">
            <a:avLst/>
          </a:prstGeom>
          <a:solidFill>
            <a:srgbClr val="8B6914"/>
          </a:solidFill>
          <a:ln w="12700">
            <a:solidFill>
              <a:srgbClr val="8B6914"/>
            </a:solidFill>
            <a:prstDash val="solid"/>
          </a:ln>
        </p:spPr>
      </p:sp>
      <p:sp>
        <p:nvSpPr>
          <p:cNvPr id="25" name="Text 23"/>
          <p:cNvSpPr/>
          <p:nvPr/>
        </p:nvSpPr>
        <p:spPr>
          <a:xfrm>
            <a:off x="640080" y="3977640"/>
            <a:ext cx="2011680" cy="274320"/>
          </a:xfrm>
          <a:prstGeom prst="rect">
            <a:avLst/>
          </a:prstGeom>
          <a:noFill/>
          <a:ln/>
        </p:spPr>
        <p:txBody>
          <a:bodyPr wrap="square" lIns="0" tIns="0" rIns="0" bIns="0" rtlCol="0" anchor="ctr"/>
          <a:lstStyle/>
          <a:p>
            <a:pPr marL="0" indent="0" algn="l">
              <a:buNone/>
            </a:pPr>
            <a:r>
              <a:rPr lang="en-US" sz="1000" dirty="0">
                <a:solidFill>
                  <a:srgbClr val="8C7B6B"/>
                </a:solidFill>
                <a:latin typeface="Cambria" pitchFamily="34" charset="0"/>
                <a:ea typeface="Cambria" pitchFamily="34" charset="-122"/>
                <a:cs typeface="Cambria" pitchFamily="34" charset="-120"/>
              </a:rPr>
              <a:t>Approx. weight</a:t>
            </a:r>
            <a:endParaRPr lang="en-US" sz="1000" dirty="0"/>
          </a:p>
        </p:txBody>
      </p:sp>
      <p:sp>
        <p:nvSpPr>
          <p:cNvPr id="26" name="Text 24"/>
          <p:cNvSpPr/>
          <p:nvPr/>
        </p:nvSpPr>
        <p:spPr>
          <a:xfrm>
            <a:off x="2743200" y="3977640"/>
            <a:ext cx="1645920" cy="274320"/>
          </a:xfrm>
          <a:prstGeom prst="rect">
            <a:avLst/>
          </a:prstGeom>
          <a:noFill/>
          <a:ln/>
        </p:spPr>
        <p:txBody>
          <a:bodyPr wrap="square" lIns="0" tIns="0" rIns="0" bIns="0" rtlCol="0" anchor="ctr"/>
          <a:lstStyle/>
          <a:p>
            <a:pPr marL="0" indent="0" algn="r">
              <a:buNone/>
            </a:pPr>
            <a:r>
              <a:rPr lang="en-US" sz="1000" b="1" dirty="0">
                <a:solidFill>
                  <a:srgbClr val="F5EDD8"/>
                </a:solidFill>
                <a:latin typeface="Cambria" pitchFamily="34" charset="0"/>
                <a:ea typeface="Cambria" pitchFamily="34" charset="-122"/>
                <a:cs typeface="Cambria" pitchFamily="34" charset="-120"/>
              </a:rPr>
              <a:t>8–10 kg</a:t>
            </a:r>
            <a:endParaRPr lang="en-US" sz="1000" dirty="0"/>
          </a:p>
        </p:txBody>
      </p:sp>
      <p:sp>
        <p:nvSpPr>
          <p:cNvPr id="27" name="Shape 25"/>
          <p:cNvSpPr/>
          <p:nvPr/>
        </p:nvSpPr>
        <p:spPr>
          <a:xfrm>
            <a:off x="640080" y="4251960"/>
            <a:ext cx="3657600" cy="9144"/>
          </a:xfrm>
          <a:prstGeom prst="rect">
            <a:avLst/>
          </a:prstGeom>
          <a:solidFill>
            <a:srgbClr val="8B6914"/>
          </a:solidFill>
          <a:ln w="12700">
            <a:solidFill>
              <a:srgbClr val="8B6914"/>
            </a:solidFill>
            <a:prstDash val="solid"/>
          </a:ln>
        </p:spPr>
      </p:sp>
      <p:sp>
        <p:nvSpPr>
          <p:cNvPr id="28" name="Text 26"/>
          <p:cNvSpPr/>
          <p:nvPr/>
        </p:nvSpPr>
        <p:spPr>
          <a:xfrm>
            <a:off x="640080" y="4297680"/>
            <a:ext cx="2011680" cy="274320"/>
          </a:xfrm>
          <a:prstGeom prst="rect">
            <a:avLst/>
          </a:prstGeom>
          <a:noFill/>
          <a:ln/>
        </p:spPr>
        <p:txBody>
          <a:bodyPr wrap="square" lIns="0" tIns="0" rIns="0" bIns="0" rtlCol="0" anchor="ctr"/>
          <a:lstStyle/>
          <a:p>
            <a:pPr marL="0" indent="0" algn="l">
              <a:buNone/>
            </a:pPr>
            <a:r>
              <a:rPr lang="en-US" sz="1000" dirty="0">
                <a:solidFill>
                  <a:srgbClr val="8C7B6B"/>
                </a:solidFill>
                <a:latin typeface="Cambria" pitchFamily="34" charset="0"/>
                <a:ea typeface="Cambria" pitchFamily="34" charset="-122"/>
                <a:cs typeface="Cambria" pitchFamily="34" charset="-120"/>
              </a:rPr>
              <a:t>Fixing bolt centres</a:t>
            </a:r>
            <a:endParaRPr lang="en-US" sz="1000" dirty="0"/>
          </a:p>
        </p:txBody>
      </p:sp>
      <p:sp>
        <p:nvSpPr>
          <p:cNvPr id="29" name="Text 27"/>
          <p:cNvSpPr/>
          <p:nvPr/>
        </p:nvSpPr>
        <p:spPr>
          <a:xfrm>
            <a:off x="2743200" y="4297680"/>
            <a:ext cx="1645920" cy="274320"/>
          </a:xfrm>
          <a:prstGeom prst="rect">
            <a:avLst/>
          </a:prstGeom>
          <a:noFill/>
          <a:ln/>
        </p:spPr>
        <p:txBody>
          <a:bodyPr wrap="square" lIns="0" tIns="0" rIns="0" bIns="0" rtlCol="0" anchor="ctr"/>
          <a:lstStyle/>
          <a:p>
            <a:pPr marL="0" indent="0" algn="r">
              <a:buNone/>
            </a:pPr>
            <a:r>
              <a:rPr lang="en-US" sz="1000" b="1" dirty="0">
                <a:solidFill>
                  <a:srgbClr val="F5EDD8"/>
                </a:solidFill>
                <a:latin typeface="Cambria" pitchFamily="34" charset="0"/>
                <a:ea typeface="Cambria" pitchFamily="34" charset="-122"/>
                <a:cs typeface="Cambria" pitchFamily="34" charset="-120"/>
              </a:rPr>
              <a:t>560 × 410mm</a:t>
            </a:r>
            <a:endParaRPr lang="en-US" sz="1000" dirty="0"/>
          </a:p>
        </p:txBody>
      </p:sp>
      <p:sp>
        <p:nvSpPr>
          <p:cNvPr id="30" name="Shape 28"/>
          <p:cNvSpPr/>
          <p:nvPr/>
        </p:nvSpPr>
        <p:spPr>
          <a:xfrm>
            <a:off x="4754880" y="1508760"/>
            <a:ext cx="4069080" cy="1463040"/>
          </a:xfrm>
          <a:prstGeom prst="roundRect">
            <a:avLst>
              <a:gd name="adj" fmla="val 4375"/>
            </a:avLst>
          </a:prstGeom>
          <a:solidFill>
            <a:srgbClr val="3D2B0F"/>
          </a:solidFill>
          <a:ln w="12700">
            <a:solidFill>
              <a:srgbClr val="8B6914"/>
            </a:solidFill>
            <a:prstDash val="solid"/>
          </a:ln>
          <a:effectLst>
            <a:outerShdw blurRad="127000" dist="38100" dir="2700000" algn="bl" rotWithShape="0">
              <a:srgbClr val="000000">
                <a:alpha val="35000"/>
              </a:srgbClr>
            </a:outerShdw>
          </a:effectLst>
        </p:spPr>
      </p:sp>
      <p:sp>
        <p:nvSpPr>
          <p:cNvPr id="31" name="Text 29"/>
          <p:cNvSpPr/>
          <p:nvPr/>
        </p:nvSpPr>
        <p:spPr>
          <a:xfrm>
            <a:off x="4937760" y="1664208"/>
            <a:ext cx="3749040" cy="256032"/>
          </a:xfrm>
          <a:prstGeom prst="rect">
            <a:avLst/>
          </a:prstGeom>
          <a:noFill/>
          <a:ln/>
        </p:spPr>
        <p:txBody>
          <a:bodyPr wrap="square" lIns="0" tIns="0" rIns="0" bIns="0" rtlCol="0" anchor="ctr"/>
          <a:lstStyle/>
          <a:p>
            <a:pPr marL="0" indent="0" algn="l">
              <a:buNone/>
            </a:pPr>
            <a:r>
              <a:rPr lang="en-US" sz="900" b="1" kern="0" spc="200" dirty="0">
                <a:solidFill>
                  <a:srgbClr val="C4A265"/>
                </a:solidFill>
                <a:latin typeface="Cambria" pitchFamily="34" charset="0"/>
                <a:ea typeface="Cambria" pitchFamily="34" charset="-122"/>
                <a:cs typeface="Cambria" pitchFamily="34" charset="-120"/>
              </a:rPr>
              <a:t>PLACEMENT</a:t>
            </a:r>
            <a:endParaRPr lang="en-US" sz="900" dirty="0"/>
          </a:p>
        </p:txBody>
      </p:sp>
      <p:sp>
        <p:nvSpPr>
          <p:cNvPr id="32" name="Text 30"/>
          <p:cNvSpPr/>
          <p:nvPr/>
        </p:nvSpPr>
        <p:spPr>
          <a:xfrm>
            <a:off x="4937760" y="1956816"/>
            <a:ext cx="3749040" cy="914400"/>
          </a:xfrm>
          <a:prstGeom prst="rect">
            <a:avLst/>
          </a:prstGeom>
          <a:noFill/>
          <a:ln/>
        </p:spPr>
        <p:txBody>
          <a:bodyPr wrap="square" lIns="0" tIns="0" rIns="0" bIns="0" rtlCol="0" anchor="t"/>
          <a:lstStyle/>
          <a:p>
            <a:pPr marL="0" indent="0" algn="l">
              <a:buNone/>
            </a:pPr>
            <a:r>
              <a:rPr lang="en-US" sz="950" dirty="0">
                <a:solidFill>
                  <a:srgbClr val="EDE0C4"/>
                </a:solidFill>
                <a:latin typeface="Cambria" pitchFamily="34" charset="0"/>
                <a:ea typeface="Cambria" pitchFamily="34" charset="-122"/>
                <a:cs typeface="Cambria" pitchFamily="34" charset="-120"/>
              </a:rPr>
              <a:t>Mounted on a free-standing or attached stone pillar at the camp entrance or near the main public area. Eye-level centre at approximately 1500mm from ground. Stone wall construction by a local Amboseli stonemason consistent with the camp's existing material language.</a:t>
            </a:r>
            <a:endParaRPr lang="en-US" sz="950" dirty="0"/>
          </a:p>
        </p:txBody>
      </p:sp>
      <p:sp>
        <p:nvSpPr>
          <p:cNvPr id="33" name="Shape 31"/>
          <p:cNvSpPr/>
          <p:nvPr/>
        </p:nvSpPr>
        <p:spPr>
          <a:xfrm>
            <a:off x="4754880" y="3108960"/>
            <a:ext cx="4069080" cy="1600200"/>
          </a:xfrm>
          <a:prstGeom prst="roundRect">
            <a:avLst>
              <a:gd name="adj" fmla="val 4000"/>
            </a:avLst>
          </a:prstGeom>
          <a:solidFill>
            <a:srgbClr val="3D2B0F"/>
          </a:solidFill>
          <a:ln w="12700">
            <a:solidFill>
              <a:srgbClr val="8B6914"/>
            </a:solidFill>
            <a:prstDash val="solid"/>
          </a:ln>
          <a:effectLst>
            <a:outerShdw blurRad="127000" dist="38100" dir="2700000" algn="bl" rotWithShape="0">
              <a:srgbClr val="000000">
                <a:alpha val="35000"/>
              </a:srgbClr>
            </a:outerShdw>
          </a:effectLst>
        </p:spPr>
      </p:sp>
      <p:sp>
        <p:nvSpPr>
          <p:cNvPr id="34" name="Text 32"/>
          <p:cNvSpPr/>
          <p:nvPr/>
        </p:nvSpPr>
        <p:spPr>
          <a:xfrm>
            <a:off x="4937760" y="3264408"/>
            <a:ext cx="3749040" cy="256032"/>
          </a:xfrm>
          <a:prstGeom prst="rect">
            <a:avLst/>
          </a:prstGeom>
          <a:noFill/>
          <a:ln/>
        </p:spPr>
        <p:txBody>
          <a:bodyPr wrap="square" lIns="0" tIns="0" rIns="0" bIns="0" rtlCol="0" anchor="ctr"/>
          <a:lstStyle/>
          <a:p>
            <a:pPr marL="0" indent="0" algn="l">
              <a:buNone/>
            </a:pPr>
            <a:r>
              <a:rPr lang="en-US" sz="900" b="1" kern="0" spc="200" dirty="0">
                <a:solidFill>
                  <a:srgbClr val="C4A265"/>
                </a:solidFill>
                <a:latin typeface="Cambria" pitchFamily="34" charset="0"/>
                <a:ea typeface="Cambria" pitchFamily="34" charset="-122"/>
                <a:cs typeface="Cambria" pitchFamily="34" charset="-120"/>
              </a:rPr>
              <a:t>INDICATIVE TIMELINE</a:t>
            </a:r>
            <a:endParaRPr lang="en-US" sz="900" dirty="0"/>
          </a:p>
        </p:txBody>
      </p:sp>
      <p:sp>
        <p:nvSpPr>
          <p:cNvPr id="35" name="Text 33"/>
          <p:cNvSpPr/>
          <p:nvPr/>
        </p:nvSpPr>
        <p:spPr>
          <a:xfrm>
            <a:off x="4937760" y="3584448"/>
            <a:ext cx="2743200" cy="219456"/>
          </a:xfrm>
          <a:prstGeom prst="rect">
            <a:avLst/>
          </a:prstGeom>
          <a:noFill/>
          <a:ln/>
        </p:spPr>
        <p:txBody>
          <a:bodyPr wrap="square" lIns="0" tIns="0" rIns="0" bIns="0" rtlCol="0" anchor="ctr"/>
          <a:lstStyle/>
          <a:p>
            <a:pPr marL="0" indent="0" algn="l">
              <a:buNone/>
            </a:pPr>
            <a:r>
              <a:rPr lang="en-US" sz="950" dirty="0">
                <a:solidFill>
                  <a:srgbClr val="EDE0C4"/>
                </a:solidFill>
                <a:latin typeface="Cambria" pitchFamily="34" charset="0"/>
                <a:ea typeface="Cambria" pitchFamily="34" charset="-122"/>
                <a:cs typeface="Cambria" pitchFamily="34" charset="-120"/>
              </a:rPr>
              <a:t>Artwork sign-off</a:t>
            </a:r>
            <a:endParaRPr lang="en-US" sz="950" dirty="0"/>
          </a:p>
        </p:txBody>
      </p:sp>
      <p:sp>
        <p:nvSpPr>
          <p:cNvPr id="36" name="Text 34"/>
          <p:cNvSpPr/>
          <p:nvPr/>
        </p:nvSpPr>
        <p:spPr>
          <a:xfrm>
            <a:off x="7772400" y="3584448"/>
            <a:ext cx="914400" cy="219456"/>
          </a:xfrm>
          <a:prstGeom prst="rect">
            <a:avLst/>
          </a:prstGeom>
          <a:noFill/>
          <a:ln/>
        </p:spPr>
        <p:txBody>
          <a:bodyPr wrap="square" lIns="0" tIns="0" rIns="0" bIns="0" rtlCol="0" anchor="ctr"/>
          <a:lstStyle/>
          <a:p>
            <a:pPr marL="0" indent="0" algn="r">
              <a:buNone/>
            </a:pPr>
            <a:r>
              <a:rPr lang="en-US" sz="950" b="1" dirty="0">
                <a:solidFill>
                  <a:srgbClr val="E8C97A"/>
                </a:solidFill>
                <a:latin typeface="Cambria" pitchFamily="34" charset="0"/>
                <a:ea typeface="Cambria" pitchFamily="34" charset="-122"/>
                <a:cs typeface="Cambria" pitchFamily="34" charset="-120"/>
              </a:rPr>
              <a:t>Week 1</a:t>
            </a:r>
            <a:endParaRPr lang="en-US" sz="950" dirty="0"/>
          </a:p>
        </p:txBody>
      </p:sp>
      <p:sp>
        <p:nvSpPr>
          <p:cNvPr id="37" name="Text 35"/>
          <p:cNvSpPr/>
          <p:nvPr/>
        </p:nvSpPr>
        <p:spPr>
          <a:xfrm>
            <a:off x="4937760" y="3831336"/>
            <a:ext cx="2743200" cy="219456"/>
          </a:xfrm>
          <a:prstGeom prst="rect">
            <a:avLst/>
          </a:prstGeom>
          <a:noFill/>
          <a:ln/>
        </p:spPr>
        <p:txBody>
          <a:bodyPr wrap="square" lIns="0" tIns="0" rIns="0" bIns="0" rtlCol="0" anchor="ctr"/>
          <a:lstStyle/>
          <a:p>
            <a:pPr marL="0" indent="0" algn="l">
              <a:buNone/>
            </a:pPr>
            <a:r>
              <a:rPr lang="en-US" sz="950" dirty="0">
                <a:solidFill>
                  <a:srgbClr val="EDE0C4"/>
                </a:solidFill>
                <a:latin typeface="Cambria" pitchFamily="34" charset="0"/>
                <a:ea typeface="Cambria" pitchFamily="34" charset="-122"/>
                <a:cs typeface="Cambria" pitchFamily="34" charset="-120"/>
              </a:rPr>
              <a:t>Pattern making</a:t>
            </a:r>
            <a:endParaRPr lang="en-US" sz="950" dirty="0"/>
          </a:p>
        </p:txBody>
      </p:sp>
      <p:sp>
        <p:nvSpPr>
          <p:cNvPr id="38" name="Text 36"/>
          <p:cNvSpPr/>
          <p:nvPr/>
        </p:nvSpPr>
        <p:spPr>
          <a:xfrm>
            <a:off x="7772400" y="3831336"/>
            <a:ext cx="914400" cy="219456"/>
          </a:xfrm>
          <a:prstGeom prst="rect">
            <a:avLst/>
          </a:prstGeom>
          <a:noFill/>
          <a:ln/>
        </p:spPr>
        <p:txBody>
          <a:bodyPr wrap="square" lIns="0" tIns="0" rIns="0" bIns="0" rtlCol="0" anchor="ctr"/>
          <a:lstStyle/>
          <a:p>
            <a:pPr marL="0" indent="0" algn="r">
              <a:buNone/>
            </a:pPr>
            <a:r>
              <a:rPr lang="en-US" sz="950" b="1" dirty="0">
                <a:solidFill>
                  <a:srgbClr val="E8C97A"/>
                </a:solidFill>
                <a:latin typeface="Cambria" pitchFamily="34" charset="0"/>
                <a:ea typeface="Cambria" pitchFamily="34" charset="-122"/>
                <a:cs typeface="Cambria" pitchFamily="34" charset="-120"/>
              </a:rPr>
              <a:t>Weeks 2–3</a:t>
            </a:r>
            <a:endParaRPr lang="en-US" sz="950" dirty="0"/>
          </a:p>
        </p:txBody>
      </p:sp>
      <p:sp>
        <p:nvSpPr>
          <p:cNvPr id="39" name="Text 37"/>
          <p:cNvSpPr/>
          <p:nvPr/>
        </p:nvSpPr>
        <p:spPr>
          <a:xfrm>
            <a:off x="4937760" y="4078224"/>
            <a:ext cx="2743200" cy="219456"/>
          </a:xfrm>
          <a:prstGeom prst="rect">
            <a:avLst/>
          </a:prstGeom>
          <a:noFill/>
          <a:ln/>
        </p:spPr>
        <p:txBody>
          <a:bodyPr wrap="square" lIns="0" tIns="0" rIns="0" bIns="0" rtlCol="0" anchor="ctr"/>
          <a:lstStyle/>
          <a:p>
            <a:pPr marL="0" indent="0" algn="l">
              <a:buNone/>
            </a:pPr>
            <a:r>
              <a:rPr lang="en-US" sz="950" dirty="0">
                <a:solidFill>
                  <a:srgbClr val="EDE0C4"/>
                </a:solidFill>
                <a:latin typeface="Cambria" pitchFamily="34" charset="0"/>
                <a:ea typeface="Cambria" pitchFamily="34" charset="-122"/>
                <a:cs typeface="Cambria" pitchFamily="34" charset="-120"/>
              </a:rPr>
              <a:t>Casting &amp; finishing</a:t>
            </a:r>
            <a:endParaRPr lang="en-US" sz="950" dirty="0"/>
          </a:p>
        </p:txBody>
      </p:sp>
      <p:sp>
        <p:nvSpPr>
          <p:cNvPr id="40" name="Text 38"/>
          <p:cNvSpPr/>
          <p:nvPr/>
        </p:nvSpPr>
        <p:spPr>
          <a:xfrm>
            <a:off x="7772400" y="4078224"/>
            <a:ext cx="914400" cy="219456"/>
          </a:xfrm>
          <a:prstGeom prst="rect">
            <a:avLst/>
          </a:prstGeom>
          <a:noFill/>
          <a:ln/>
        </p:spPr>
        <p:txBody>
          <a:bodyPr wrap="square" lIns="0" tIns="0" rIns="0" bIns="0" rtlCol="0" anchor="ctr"/>
          <a:lstStyle/>
          <a:p>
            <a:pPr marL="0" indent="0" algn="r">
              <a:buNone/>
            </a:pPr>
            <a:r>
              <a:rPr lang="en-US" sz="950" b="1" dirty="0">
                <a:solidFill>
                  <a:srgbClr val="E8C97A"/>
                </a:solidFill>
                <a:latin typeface="Cambria" pitchFamily="34" charset="0"/>
                <a:ea typeface="Cambria" pitchFamily="34" charset="-122"/>
                <a:cs typeface="Cambria" pitchFamily="34" charset="-120"/>
              </a:rPr>
              <a:t>Weeks 4–6</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208"/>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marL="0" indent="0" algn="l">
              <a:buNone/>
            </a:pPr>
            <a:r>
              <a:rPr lang="en-US" sz="900" kern="0" spc="500" dirty="0">
                <a:solidFill>
                  <a:srgbClr val="C4A265"/>
                </a:solidFill>
                <a:latin typeface="Cambria" pitchFamily="34" charset="0"/>
                <a:ea typeface="Cambria" pitchFamily="34" charset="-122"/>
                <a:cs typeface="Cambria" pitchFamily="34" charset="-120"/>
              </a:rPr>
              <a:t>08  /  REFERENCE</a:t>
            </a:r>
            <a:endParaRPr lang="en-US" sz="900" dirty="0"/>
          </a:p>
        </p:txBody>
      </p:sp>
      <p:sp>
        <p:nvSpPr>
          <p:cNvPr id="3" name="Text 1"/>
          <p:cNvSpPr/>
          <p:nvPr/>
        </p:nvSpPr>
        <p:spPr>
          <a:xfrm>
            <a:off x="457200" y="685800"/>
            <a:ext cx="8229600" cy="594360"/>
          </a:xfrm>
          <a:prstGeom prst="rect">
            <a:avLst/>
          </a:prstGeom>
          <a:noFill/>
          <a:ln/>
        </p:spPr>
        <p:txBody>
          <a:bodyPr wrap="square" lIns="0" tIns="0" rIns="0" bIns="0" rtlCol="0" anchor="ctr"/>
          <a:lstStyle/>
          <a:p>
            <a:pPr marL="0" indent="0" algn="l">
              <a:buNone/>
            </a:pPr>
            <a:r>
              <a:rPr lang="en-US" sz="3400" b="1" dirty="0">
                <a:solidFill>
                  <a:srgbClr val="F5EDD8"/>
                </a:solidFill>
                <a:latin typeface="Cambria" pitchFamily="34" charset="0"/>
                <a:ea typeface="Cambria" pitchFamily="34" charset="-122"/>
                <a:cs typeface="Cambria" pitchFamily="34" charset="-120"/>
              </a:rPr>
              <a:t>Design Reference — Archers Post</a:t>
            </a:r>
            <a:endParaRPr lang="en-US" sz="3400" dirty="0"/>
          </a:p>
        </p:txBody>
      </p:sp>
      <p:sp>
        <p:nvSpPr>
          <p:cNvPr id="4" name="Shape 2"/>
          <p:cNvSpPr/>
          <p:nvPr/>
        </p:nvSpPr>
        <p:spPr>
          <a:xfrm>
            <a:off x="457200" y="1371600"/>
            <a:ext cx="8229600" cy="18288"/>
          </a:xfrm>
          <a:prstGeom prst="rect">
            <a:avLst/>
          </a:prstGeom>
          <a:solidFill>
            <a:srgbClr val="8B6914"/>
          </a:solidFill>
          <a:ln w="12700">
            <a:solidFill>
              <a:srgbClr val="8B6914"/>
            </a:solidFill>
            <a:prstDash val="solid"/>
          </a:ln>
        </p:spPr>
      </p:sp>
      <p:pic>
        <p:nvPicPr>
          <p:cNvPr id="5" name="Image 0" descr="/home/claude/archers_post.png"/>
          <p:cNvPicPr>
            <a:picLocks noChangeAspect="1"/>
          </p:cNvPicPr>
          <p:nvPr/>
        </p:nvPicPr>
        <p:blipFill>
          <a:blip r:embed="rId3"/>
          <a:srcRect/>
          <a:stretch/>
        </p:blipFill>
        <p:spPr>
          <a:xfrm>
            <a:off x="457200" y="1508760"/>
            <a:ext cx="3291840" cy="3200400"/>
          </a:xfrm>
          <a:prstGeom prst="rect">
            <a:avLst/>
          </a:prstGeom>
        </p:spPr>
      </p:pic>
      <p:sp>
        <p:nvSpPr>
          <p:cNvPr id="6" name="Text 3"/>
          <p:cNvSpPr/>
          <p:nvPr/>
        </p:nvSpPr>
        <p:spPr>
          <a:xfrm>
            <a:off x="4023360" y="1508760"/>
            <a:ext cx="4754880" cy="256032"/>
          </a:xfrm>
          <a:prstGeom prst="rect">
            <a:avLst/>
          </a:prstGeom>
          <a:noFill/>
          <a:ln/>
        </p:spPr>
        <p:txBody>
          <a:bodyPr wrap="square" lIns="0" tIns="0" rIns="0" bIns="0" rtlCol="0" anchor="ctr"/>
          <a:lstStyle/>
          <a:p>
            <a:pPr marL="0" indent="0" algn="l">
              <a:buNone/>
            </a:pPr>
            <a:r>
              <a:rPr lang="en-US" sz="1100" b="1" dirty="0">
                <a:solidFill>
                  <a:srgbClr val="E8C97A"/>
                </a:solidFill>
                <a:latin typeface="Cambria" pitchFamily="34" charset="0"/>
                <a:ea typeface="Cambria" pitchFamily="34" charset="-122"/>
                <a:cs typeface="Cambria" pitchFamily="34" charset="-120"/>
              </a:rPr>
              <a:t>What We Are Matching</a:t>
            </a:r>
            <a:endParaRPr lang="en-US" sz="1100" dirty="0"/>
          </a:p>
        </p:txBody>
      </p:sp>
      <p:sp>
        <p:nvSpPr>
          <p:cNvPr id="7" name="Text 4"/>
          <p:cNvSpPr/>
          <p:nvPr/>
        </p:nvSpPr>
        <p:spPr>
          <a:xfrm>
            <a:off x="4023360" y="1783080"/>
            <a:ext cx="4754880" cy="475488"/>
          </a:xfrm>
          <a:prstGeom prst="rect">
            <a:avLst/>
          </a:prstGeom>
          <a:noFill/>
          <a:ln/>
        </p:spPr>
        <p:txBody>
          <a:bodyPr wrap="square" lIns="0" tIns="0" rIns="0" bIns="0" rtlCol="0" anchor="t"/>
          <a:lstStyle/>
          <a:p>
            <a:pPr marL="0" indent="0" algn="l">
              <a:buNone/>
            </a:pPr>
            <a:r>
              <a:rPr lang="en-US" sz="950" dirty="0">
                <a:solidFill>
                  <a:srgbClr val="EDE0C4"/>
                </a:solidFill>
                <a:latin typeface="Cambria" pitchFamily="34" charset="0"/>
                <a:ea typeface="Cambria" pitchFamily="34" charset="-122"/>
                <a:cs typeface="Cambria" pitchFamily="34" charset="-120"/>
              </a:rPr>
              <a:t>Cast bronze on rough-hewn natural stone. Dark patinated background with raised polished lettering. Silhouette relief artwork at the top of the plaque. A formal heritage hierarchy: organisation → name → role → tribute line.</a:t>
            </a:r>
            <a:endParaRPr lang="en-US" sz="950" dirty="0"/>
          </a:p>
        </p:txBody>
      </p:sp>
      <p:sp>
        <p:nvSpPr>
          <p:cNvPr id="8" name="Shape 5"/>
          <p:cNvSpPr/>
          <p:nvPr/>
        </p:nvSpPr>
        <p:spPr>
          <a:xfrm>
            <a:off x="4023360" y="2286000"/>
            <a:ext cx="4754880" cy="9144"/>
          </a:xfrm>
          <a:prstGeom prst="rect">
            <a:avLst/>
          </a:prstGeom>
          <a:solidFill>
            <a:srgbClr val="3D2B0F"/>
          </a:solidFill>
          <a:ln w="12700">
            <a:solidFill>
              <a:srgbClr val="3D2B0F"/>
            </a:solidFill>
            <a:prstDash val="solid"/>
          </a:ln>
        </p:spPr>
      </p:sp>
      <p:sp>
        <p:nvSpPr>
          <p:cNvPr id="9" name="Text 6"/>
          <p:cNvSpPr/>
          <p:nvPr/>
        </p:nvSpPr>
        <p:spPr>
          <a:xfrm>
            <a:off x="4023360" y="2308860"/>
            <a:ext cx="4754880" cy="256032"/>
          </a:xfrm>
          <a:prstGeom prst="rect">
            <a:avLst/>
          </a:prstGeom>
          <a:noFill/>
          <a:ln/>
        </p:spPr>
        <p:txBody>
          <a:bodyPr wrap="square" lIns="0" tIns="0" rIns="0" bIns="0" rtlCol="0" anchor="ctr"/>
          <a:lstStyle/>
          <a:p>
            <a:pPr marL="0" indent="0" algn="l">
              <a:buNone/>
            </a:pPr>
            <a:r>
              <a:rPr lang="en-US" sz="1100" b="1" dirty="0">
                <a:solidFill>
                  <a:srgbClr val="E8C97A"/>
                </a:solidFill>
                <a:latin typeface="Cambria" pitchFamily="34" charset="0"/>
                <a:ea typeface="Cambria" pitchFamily="34" charset="-122"/>
                <a:cs typeface="Cambria" pitchFamily="34" charset="-120"/>
              </a:rPr>
              <a:t>What We Are Adapting</a:t>
            </a:r>
            <a:endParaRPr lang="en-US" sz="1100" dirty="0"/>
          </a:p>
        </p:txBody>
      </p:sp>
      <p:sp>
        <p:nvSpPr>
          <p:cNvPr id="10" name="Text 7"/>
          <p:cNvSpPr/>
          <p:nvPr/>
        </p:nvSpPr>
        <p:spPr>
          <a:xfrm>
            <a:off x="4023360" y="2583180"/>
            <a:ext cx="4754880" cy="475488"/>
          </a:xfrm>
          <a:prstGeom prst="rect">
            <a:avLst/>
          </a:prstGeom>
          <a:noFill/>
          <a:ln/>
        </p:spPr>
        <p:txBody>
          <a:bodyPr wrap="square" lIns="0" tIns="0" rIns="0" bIns="0" rtlCol="0" anchor="t"/>
          <a:lstStyle/>
          <a:p>
            <a:pPr marL="0" indent="0" algn="l">
              <a:buNone/>
            </a:pPr>
            <a:r>
              <a:rPr lang="en-US" sz="950" dirty="0">
                <a:solidFill>
                  <a:srgbClr val="EDE0C4"/>
                </a:solidFill>
                <a:latin typeface="Cambria" pitchFamily="34" charset="0"/>
                <a:ea typeface="Cambria" pitchFamily="34" charset="-122"/>
                <a:cs typeface="Cambria" pitchFamily="34" charset="-120"/>
              </a:rPr>
              <a:t>The Archers Post plaque is a memorial. The Veronesi plaque is celebratory — honouring a living artist. The closing line ('Through his lens, these animals live forever') is present-tense and forward-looking rather than elegiac.</a:t>
            </a:r>
            <a:endParaRPr lang="en-US" sz="950" dirty="0"/>
          </a:p>
        </p:txBody>
      </p:sp>
      <p:sp>
        <p:nvSpPr>
          <p:cNvPr id="11" name="Shape 8"/>
          <p:cNvSpPr/>
          <p:nvPr/>
        </p:nvSpPr>
        <p:spPr>
          <a:xfrm>
            <a:off x="4023360" y="3086100"/>
            <a:ext cx="4754880" cy="9144"/>
          </a:xfrm>
          <a:prstGeom prst="rect">
            <a:avLst/>
          </a:prstGeom>
          <a:solidFill>
            <a:srgbClr val="3D2B0F"/>
          </a:solidFill>
          <a:ln w="12700">
            <a:solidFill>
              <a:srgbClr val="3D2B0F"/>
            </a:solidFill>
            <a:prstDash val="solid"/>
          </a:ln>
        </p:spPr>
      </p:sp>
      <p:sp>
        <p:nvSpPr>
          <p:cNvPr id="12" name="Text 9"/>
          <p:cNvSpPr/>
          <p:nvPr/>
        </p:nvSpPr>
        <p:spPr>
          <a:xfrm>
            <a:off x="4023360" y="3108960"/>
            <a:ext cx="4754880" cy="256032"/>
          </a:xfrm>
          <a:prstGeom prst="rect">
            <a:avLst/>
          </a:prstGeom>
          <a:noFill/>
          <a:ln/>
        </p:spPr>
        <p:txBody>
          <a:bodyPr wrap="square" lIns="0" tIns="0" rIns="0" bIns="0" rtlCol="0" anchor="ctr"/>
          <a:lstStyle/>
          <a:p>
            <a:pPr marL="0" indent="0" algn="l">
              <a:buNone/>
            </a:pPr>
            <a:r>
              <a:rPr lang="en-US" sz="1100" b="1" dirty="0">
                <a:solidFill>
                  <a:srgbClr val="E8C97A"/>
                </a:solidFill>
                <a:latin typeface="Cambria" pitchFamily="34" charset="0"/>
                <a:ea typeface="Cambria" pitchFamily="34" charset="-122"/>
                <a:cs typeface="Cambria" pitchFamily="34" charset="-120"/>
              </a:rPr>
              <a:t>Tonal Difference</a:t>
            </a:r>
            <a:endParaRPr lang="en-US" sz="1100" dirty="0"/>
          </a:p>
        </p:txBody>
      </p:sp>
      <p:sp>
        <p:nvSpPr>
          <p:cNvPr id="13" name="Text 10"/>
          <p:cNvSpPr/>
          <p:nvPr/>
        </p:nvSpPr>
        <p:spPr>
          <a:xfrm>
            <a:off x="4023360" y="3383280"/>
            <a:ext cx="4754880" cy="475488"/>
          </a:xfrm>
          <a:prstGeom prst="rect">
            <a:avLst/>
          </a:prstGeom>
          <a:noFill/>
          <a:ln/>
        </p:spPr>
        <p:txBody>
          <a:bodyPr wrap="square" lIns="0" tIns="0" rIns="0" bIns="0" rtlCol="0" anchor="t"/>
          <a:lstStyle/>
          <a:p>
            <a:pPr marL="0" indent="0" algn="l">
              <a:buNone/>
            </a:pPr>
            <a:r>
              <a:rPr lang="en-US" sz="950" dirty="0">
                <a:solidFill>
                  <a:srgbClr val="EDE0C4"/>
                </a:solidFill>
                <a:latin typeface="Cambria" pitchFamily="34" charset="0"/>
                <a:ea typeface="Cambria" pitchFamily="34" charset="-122"/>
                <a:cs typeface="Cambria" pitchFamily="34" charset="-120"/>
              </a:rPr>
              <a:t>Archers Post is institutional — African Wildlife Foundation commissioning a ranger station renovation. The Soroi plaque carries the same formal register but adds 'Resident Artist, The Soroi Collection' to root it firmly within the property and the brand.</a:t>
            </a:r>
            <a:endParaRPr lang="en-US" sz="950" dirty="0"/>
          </a:p>
        </p:txBody>
      </p:sp>
      <p:sp>
        <p:nvSpPr>
          <p:cNvPr id="14" name="Shape 11"/>
          <p:cNvSpPr/>
          <p:nvPr/>
        </p:nvSpPr>
        <p:spPr>
          <a:xfrm>
            <a:off x="4023360" y="3886200"/>
            <a:ext cx="4754880" cy="9144"/>
          </a:xfrm>
          <a:prstGeom prst="rect">
            <a:avLst/>
          </a:prstGeom>
          <a:solidFill>
            <a:srgbClr val="3D2B0F"/>
          </a:solidFill>
          <a:ln w="12700">
            <a:solidFill>
              <a:srgbClr val="3D2B0F"/>
            </a:solidFill>
            <a:prstDash val="solid"/>
          </a:ln>
        </p:spPr>
      </p:sp>
      <p:sp>
        <p:nvSpPr>
          <p:cNvPr id="15" name="Text 12"/>
          <p:cNvSpPr/>
          <p:nvPr/>
        </p:nvSpPr>
        <p:spPr>
          <a:xfrm>
            <a:off x="4023360" y="3909060"/>
            <a:ext cx="4754880" cy="256032"/>
          </a:xfrm>
          <a:prstGeom prst="rect">
            <a:avLst/>
          </a:prstGeom>
          <a:noFill/>
          <a:ln/>
        </p:spPr>
        <p:txBody>
          <a:bodyPr wrap="square" lIns="0" tIns="0" rIns="0" bIns="0" rtlCol="0" anchor="ctr"/>
          <a:lstStyle/>
          <a:p>
            <a:pPr marL="0" indent="0" algn="l">
              <a:buNone/>
            </a:pPr>
            <a:r>
              <a:rPr lang="en-US" sz="1100" b="1" dirty="0">
                <a:solidFill>
                  <a:srgbClr val="E8C97A"/>
                </a:solidFill>
                <a:latin typeface="Cambria" pitchFamily="34" charset="0"/>
                <a:ea typeface="Cambria" pitchFamily="34" charset="-122"/>
                <a:cs typeface="Cambria" pitchFamily="34" charset="-120"/>
              </a:rPr>
              <a:t>Artwork Shift</a:t>
            </a:r>
            <a:endParaRPr lang="en-US" sz="1100" dirty="0"/>
          </a:p>
        </p:txBody>
      </p:sp>
      <p:sp>
        <p:nvSpPr>
          <p:cNvPr id="16" name="Text 13"/>
          <p:cNvSpPr/>
          <p:nvPr/>
        </p:nvSpPr>
        <p:spPr>
          <a:xfrm>
            <a:off x="4023360" y="4183380"/>
            <a:ext cx="4754880" cy="475488"/>
          </a:xfrm>
          <a:prstGeom prst="rect">
            <a:avLst/>
          </a:prstGeom>
          <a:noFill/>
          <a:ln/>
        </p:spPr>
        <p:txBody>
          <a:bodyPr wrap="square" lIns="0" tIns="0" rIns="0" bIns="0" rtlCol="0" anchor="t"/>
          <a:lstStyle/>
          <a:p>
            <a:pPr marL="0" indent="0" algn="l">
              <a:buNone/>
            </a:pPr>
            <a:r>
              <a:rPr lang="en-US" sz="950" dirty="0">
                <a:solidFill>
                  <a:srgbClr val="EDE0C4"/>
                </a:solidFill>
                <a:latin typeface="Cambria" pitchFamily="34" charset="0"/>
                <a:ea typeface="Cambria" pitchFamily="34" charset="-122"/>
                <a:cs typeface="Cambria" pitchFamily="34" charset="-120"/>
              </a:rPr>
              <a:t>Archers Post uses a simple elephant procession silhouette. The Veronesi plaque elevates this to a full landscape composition — lone tusker, Kilimanjaro, acacia plains — because the landscape IS Federico's subject matter.</a:t>
            </a:r>
            <a:endParaRPr lang="en-US" sz="950" dirty="0"/>
          </a:p>
        </p:txBody>
      </p:sp>
      <p:sp>
        <p:nvSpPr>
          <p:cNvPr id="17" name="Shape 14"/>
          <p:cNvSpPr/>
          <p:nvPr/>
        </p:nvSpPr>
        <p:spPr>
          <a:xfrm>
            <a:off x="4023360" y="4686300"/>
            <a:ext cx="4754880" cy="9144"/>
          </a:xfrm>
          <a:prstGeom prst="rect">
            <a:avLst/>
          </a:prstGeom>
          <a:solidFill>
            <a:srgbClr val="3D2B0F"/>
          </a:solidFill>
          <a:ln w="12700">
            <a:solidFill>
              <a:srgbClr val="3D2B0F"/>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700">
              <a:alpha val="70000"/>
            </a:srgbClr>
          </a:solidFill>
          <a:ln w="12700">
            <a:solidFill>
              <a:srgbClr val="000000"/>
            </a:solidFill>
            <a:prstDash val="solid"/>
          </a:ln>
        </p:spPr>
      </p:sp>
      <p:sp>
        <p:nvSpPr>
          <p:cNvPr id="3" name="Text 1"/>
          <p:cNvSpPr/>
          <p:nvPr/>
        </p:nvSpPr>
        <p:spPr>
          <a:xfrm>
            <a:off x="457200" y="1554480"/>
            <a:ext cx="8229600" cy="502920"/>
          </a:xfrm>
          <a:prstGeom prst="rect">
            <a:avLst/>
          </a:prstGeom>
          <a:noFill/>
          <a:ln/>
        </p:spPr>
        <p:txBody>
          <a:bodyPr wrap="square" lIns="0" tIns="0" rIns="0" bIns="0" rtlCol="0" anchor="ctr"/>
          <a:lstStyle/>
          <a:p>
            <a:pPr marL="0" indent="0" algn="ctr">
              <a:buNone/>
            </a:pPr>
            <a:r>
              <a:rPr lang="en-US" sz="2800" b="1" kern="0" spc="400" dirty="0">
                <a:solidFill>
                  <a:srgbClr val="F5EDD8"/>
                </a:solidFill>
                <a:latin typeface="Cambria" pitchFamily="34" charset="0"/>
                <a:ea typeface="Cambria" pitchFamily="34" charset="-122"/>
                <a:cs typeface="Cambria" pitchFamily="34" charset="-120"/>
              </a:rPr>
              <a:t>THROUGH HIS LENS,</a:t>
            </a:r>
            <a:endParaRPr lang="en-US" sz="2800" dirty="0"/>
          </a:p>
        </p:txBody>
      </p:sp>
      <p:sp>
        <p:nvSpPr>
          <p:cNvPr id="4" name="Text 2"/>
          <p:cNvSpPr/>
          <p:nvPr/>
        </p:nvSpPr>
        <p:spPr>
          <a:xfrm>
            <a:off x="457200" y="2084832"/>
            <a:ext cx="8229600" cy="502920"/>
          </a:xfrm>
          <a:prstGeom prst="rect">
            <a:avLst/>
          </a:prstGeom>
          <a:noFill/>
          <a:ln/>
        </p:spPr>
        <p:txBody>
          <a:bodyPr wrap="square" lIns="0" tIns="0" rIns="0" bIns="0" rtlCol="0" anchor="ctr"/>
          <a:lstStyle/>
          <a:p>
            <a:pPr marL="0" indent="0" algn="ctr">
              <a:buNone/>
            </a:pPr>
            <a:r>
              <a:rPr lang="en-US" sz="2800" b="1" kern="0" spc="400" dirty="0">
                <a:solidFill>
                  <a:srgbClr val="C4A265"/>
                </a:solidFill>
                <a:latin typeface="Cambria" pitchFamily="34" charset="0"/>
                <a:ea typeface="Cambria" pitchFamily="34" charset="-122"/>
                <a:cs typeface="Cambria" pitchFamily="34" charset="-120"/>
              </a:rPr>
              <a:t>THESE ANIMALS LIVE FOREVER</a:t>
            </a:r>
            <a:endParaRPr lang="en-US" sz="2800" dirty="0"/>
          </a:p>
        </p:txBody>
      </p:sp>
      <p:sp>
        <p:nvSpPr>
          <p:cNvPr id="5" name="Shape 3"/>
          <p:cNvSpPr/>
          <p:nvPr/>
        </p:nvSpPr>
        <p:spPr>
          <a:xfrm>
            <a:off x="3200400" y="2743200"/>
            <a:ext cx="2743200" cy="22860"/>
          </a:xfrm>
          <a:prstGeom prst="rect">
            <a:avLst/>
          </a:prstGeom>
          <a:solidFill>
            <a:srgbClr val="C4A265"/>
          </a:solidFill>
          <a:ln w="12700">
            <a:solidFill>
              <a:srgbClr val="C4A265"/>
            </a:solidFill>
            <a:prstDash val="solid"/>
          </a:ln>
        </p:spPr>
      </p:sp>
      <p:sp>
        <p:nvSpPr>
          <p:cNvPr id="6" name="Text 4"/>
          <p:cNvSpPr/>
          <p:nvPr/>
        </p:nvSpPr>
        <p:spPr>
          <a:xfrm>
            <a:off x="457200" y="2880360"/>
            <a:ext cx="8229600" cy="320040"/>
          </a:xfrm>
          <a:prstGeom prst="rect">
            <a:avLst/>
          </a:prstGeom>
          <a:noFill/>
          <a:ln/>
        </p:spPr>
        <p:txBody>
          <a:bodyPr wrap="square" lIns="0" tIns="0" rIns="0" bIns="0" rtlCol="0" anchor="ctr"/>
          <a:lstStyle/>
          <a:p>
            <a:pPr marL="0" indent="0" algn="ctr">
              <a:buNone/>
            </a:pPr>
            <a:r>
              <a:rPr lang="en-US" sz="1100" i="1" kern="0" spc="100" dirty="0">
                <a:solidFill>
                  <a:srgbClr val="8C7B6B"/>
                </a:solidFill>
                <a:latin typeface="Cambria" pitchFamily="34" charset="0"/>
                <a:ea typeface="Cambria" pitchFamily="34" charset="-122"/>
                <a:cs typeface="Cambria" pitchFamily="34" charset="-120"/>
              </a:rPr>
              <a:t>Federico Veronesi  ·  Soroi Amboseli  ·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1412</Words>
  <Application>Microsoft Macintosh PowerPoint</Application>
  <PresentationFormat>On-screen Show (16:9)</PresentationFormat>
  <Paragraphs>142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Federico Veronesi — Commemorative Plaque</dc:title>
  <dc:subject>PptxGenJS Presentation</dc:subject>
  <dc:creator>Soroi Collection</dc:creator>
  <cp:lastModifiedBy>Microsoft Office User</cp:lastModifiedBy>
  <cp:revision>2</cp:revision>
  <dcterms:created xsi:type="dcterms:W3CDTF">2026-06-09T17:39:40Z</dcterms:created>
  <dcterms:modified xsi:type="dcterms:W3CDTF">2026-06-09T17:50:02Z</dcterms:modified>
</cp:coreProperties>
</file>